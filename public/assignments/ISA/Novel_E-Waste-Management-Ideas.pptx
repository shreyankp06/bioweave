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sv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4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35" y="369540"/>
            <a:ext cx="443484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spc="222" kern="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COLLEGE INNOVATION PROJECT / 2026</a:t>
            </a:r>
            <a:endParaRPr lang="en-US" sz="1010" dirty="0"/>
          </a:p>
        </p:txBody>
      </p:sp>
      <p:sp>
        <p:nvSpPr>
          <p:cNvPr id="6" name="Text 2"/>
          <p:cNvSpPr/>
          <p:nvPr/>
        </p:nvSpPr>
        <p:spPr>
          <a:xfrm>
            <a:off x="640035" y="1090761"/>
            <a:ext cx="426110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215"/>
              </a:spcAft>
              <a:buNone/>
            </a:pPr>
            <a:r>
              <a:rPr lang="en-US" sz="1220" b="1" spc="245" kern="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INDIA · CIRCULAR TECHNOLOGY</a:t>
            </a:r>
            <a:endParaRPr lang="en-US" sz="1220" dirty="0"/>
          </a:p>
        </p:txBody>
      </p:sp>
      <p:sp>
        <p:nvSpPr>
          <p:cNvPr id="7" name="Text 3"/>
          <p:cNvSpPr/>
          <p:nvPr/>
        </p:nvSpPr>
        <p:spPr>
          <a:xfrm>
            <a:off x="640035" y="1363861"/>
            <a:ext cx="4520267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40" b="1" spc="-318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Novel E-Waste</a:t>
            </a:r>
            <a:endParaRPr lang="en-US" sz="4540" dirty="0"/>
          </a:p>
        </p:txBody>
      </p:sp>
      <p:sp>
        <p:nvSpPr>
          <p:cNvPr id="8" name="Text 4"/>
          <p:cNvSpPr/>
          <p:nvPr/>
        </p:nvSpPr>
        <p:spPr>
          <a:xfrm>
            <a:off x="640035" y="1905298"/>
            <a:ext cx="4286644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40" b="1" spc="-318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Management</a:t>
            </a:r>
            <a:endParaRPr lang="en-US" sz="4540" dirty="0"/>
          </a:p>
        </p:txBody>
      </p:sp>
      <p:sp>
        <p:nvSpPr>
          <p:cNvPr id="9" name="Text 5"/>
          <p:cNvSpPr/>
          <p:nvPr/>
        </p:nvSpPr>
        <p:spPr>
          <a:xfrm>
            <a:off x="640035" y="2446734"/>
            <a:ext cx="4419176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40" b="1" spc="-318" kern="0" dirty="0">
                <a:solidFill>
                  <a:srgbClr val="D5E2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Ideas for India</a:t>
            </a:r>
            <a:endParaRPr lang="en-US" sz="4540" dirty="0"/>
          </a:p>
        </p:txBody>
      </p:sp>
      <p:sp>
        <p:nvSpPr>
          <p:cNvPr id="10" name="Text 6"/>
          <p:cNvSpPr/>
          <p:nvPr/>
        </p:nvSpPr>
        <p:spPr>
          <a:xfrm>
            <a:off x="640035" y="3308152"/>
            <a:ext cx="538104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550" dirty="0">
                <a:solidFill>
                  <a:srgbClr val="D2D2C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Electronic Waste to Regional Innovation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40556" y="4112605"/>
            <a:ext cx="7862887" cy="671513"/>
          </a:xfrm>
          <a:prstGeom prst="rect">
            <a:avLst/>
          </a:prstGeom>
          <a:ln/>
        </p:spPr>
      </p:sp>
      <p:sp>
        <p:nvSpPr>
          <p:cNvPr id="12" name="Text 8"/>
          <p:cNvSpPr/>
          <p:nvPr/>
        </p:nvSpPr>
        <p:spPr>
          <a:xfrm>
            <a:off x="640035" y="4422725"/>
            <a:ext cx="3467078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B0B4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E-WASTE-TO-AGRITECH — MAHARASHTRA</a:t>
            </a:r>
            <a:endParaRPr lang="en-US" sz="97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970" dirty="0">
                <a:solidFill>
                  <a:srgbClr val="B0B4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E-WASTE-TO-COASTAL SAFETY — KERALA</a:t>
            </a:r>
            <a:endParaRPr lang="en-US" sz="970" dirty="0"/>
          </a:p>
        </p:txBody>
      </p:sp>
      <p:sp>
        <p:nvSpPr>
          <p:cNvPr id="13" name="Text 9"/>
          <p:cNvSpPr/>
          <p:nvPr/>
        </p:nvSpPr>
        <p:spPr>
          <a:xfrm>
            <a:off x="6653190" y="4251350"/>
            <a:ext cx="185077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Name : Shreyank Parab</a:t>
            </a:r>
            <a:endParaRPr lang="en-US" sz="970" dirty="0"/>
          </a:p>
        </p:txBody>
      </p:sp>
      <p:sp>
        <p:nvSpPr>
          <p:cNvPr id="14" name="Text 10"/>
          <p:cNvSpPr/>
          <p:nvPr/>
        </p:nvSpPr>
        <p:spPr>
          <a:xfrm>
            <a:off x="6936343" y="4430316"/>
            <a:ext cx="15676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0" dirty="0">
                <a:solidFill>
                  <a:srgbClr val="B0B4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Roll no: 24102B0044</a:t>
            </a:r>
            <a:endParaRPr lang="en-US" sz="970" dirty="0"/>
          </a:p>
        </p:txBody>
      </p:sp>
      <p:sp>
        <p:nvSpPr>
          <p:cNvPr id="15" name="Text 11"/>
          <p:cNvSpPr/>
          <p:nvPr/>
        </p:nvSpPr>
        <p:spPr>
          <a:xfrm>
            <a:off x="7630344" y="4609281"/>
            <a:ext cx="87362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0" dirty="0">
                <a:solidFill>
                  <a:srgbClr val="B0B4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 CMPN B</a:t>
            </a:r>
            <a:endParaRPr lang="en-US" sz="97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556" y="4112605"/>
            <a:ext cx="7862887" cy="6715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300699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4510690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E-Waste-to-</a:t>
            </a:r>
            <a:pPr algn="l" indent="0" marL="0">
              <a:buNone/>
            </a:pPr>
            <a:r>
              <a:rPr lang="en-US" sz="3020" b="1" spc="-181" kern="0" dirty="0">
                <a:solidFill>
                  <a:srgbClr val="1B7F7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AgriTech</a:t>
            </a:r>
            <a:endParaRPr lang="en-US" sz="3020" dirty="0"/>
          </a:p>
        </p:txBody>
      </p:sp>
      <p:sp>
        <p:nvSpPr>
          <p:cNvPr id="6" name="Text 4"/>
          <p:cNvSpPr/>
          <p:nvPr/>
        </p:nvSpPr>
        <p:spPr>
          <a:xfrm>
            <a:off x="640035" y="1262435"/>
            <a:ext cx="614295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66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Converting Urban E-Waste into Low-Cost Smart</a:t>
            </a:r>
            <a:endParaRPr lang="en-US" sz="1660" dirty="0"/>
          </a:p>
        </p:txBody>
      </p:sp>
      <p:sp>
        <p:nvSpPr>
          <p:cNvPr id="7" name="Text 5"/>
          <p:cNvSpPr/>
          <p:nvPr/>
        </p:nvSpPr>
        <p:spPr>
          <a:xfrm>
            <a:off x="640035" y="1504206"/>
            <a:ext cx="257399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66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Farming Technology</a:t>
            </a:r>
            <a:endParaRPr lang="en-US" sz="1660" dirty="0"/>
          </a:p>
        </p:txBody>
      </p:sp>
      <p:sp>
        <p:nvSpPr>
          <p:cNvPr id="8" name="Text 6"/>
          <p:cNvSpPr/>
          <p:nvPr/>
        </p:nvSpPr>
        <p:spPr>
          <a:xfrm>
            <a:off x="640035" y="1803127"/>
            <a:ext cx="24871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Region: Maharashtra, India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31416" y="2520255"/>
            <a:ext cx="19142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5F1E8"/>
                </a:solidFill>
                <a:highlight>
                  <a:srgbClr val="10242B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DISCARDED DEVICES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2342704" y="2520255"/>
            <a:ext cx="2115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2644229" y="2520255"/>
            <a:ext cx="17575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5F1E8"/>
                </a:solidFill>
                <a:highlight>
                  <a:srgbClr val="D96445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RECOVERED PARTS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134966" y="2520255"/>
            <a:ext cx="2115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4436492" y="2520255"/>
            <a:ext cx="15516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5F1E8"/>
                </a:solidFill>
                <a:highlight>
                  <a:srgbClr val="1B7F78"/>
                </a:highlight>
                <a:latin typeface="DM Sans" pitchFamily="34" charset="0"/>
                <a:ea typeface="DM Sans" pitchFamily="34" charset="-122"/>
                <a:cs typeface="DM Sans" pitchFamily="34" charset="-120"/>
              </a:rPr>
              <a:t>FARMER BENEFIT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40035" y="3190131"/>
            <a:ext cx="574642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0"/>
              </a:spcBef>
              <a:buNone/>
            </a:pPr>
            <a:r>
              <a:rPr lang="en-US" sz="1300" i="1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“Giving discarded electronics a second life in agriculture.”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301182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9184407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gap is both electronic </a:t>
            </a:r>
            <a:pPr algn="l" indent="0" marL="0">
              <a:buNone/>
            </a:pPr>
            <a:r>
              <a:rPr lang="en-US" sz="3020" b="1" spc="-181" kern="0" dirty="0">
                <a:solidFill>
                  <a:srgbClr val="D964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and agricultural.</a:t>
            </a:r>
            <a:endParaRPr lang="en-US" sz="3020" dirty="0"/>
          </a:p>
        </p:txBody>
      </p:sp>
      <p:sp>
        <p:nvSpPr>
          <p:cNvPr id="6" name="Shape 4"/>
          <p:cNvSpPr/>
          <p:nvPr/>
        </p:nvSpPr>
        <p:spPr>
          <a:xfrm>
            <a:off x="641003" y="1383953"/>
            <a:ext cx="3838575" cy="1471613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640035" y="1544389"/>
            <a:ext cx="2480444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E-Waste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35" y="1966317"/>
            <a:ext cx="4935952" cy="880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Discarded phones, computers, routers, chargers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devices may still contain useful components.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every part needs to immediately become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material waste.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4385" y="1383953"/>
            <a:ext cx="3838575" cy="1471613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4663380" y="1544389"/>
            <a:ext cx="2913735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Agriculture Problem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380" y="1966317"/>
            <a:ext cx="5036076" cy="880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and marginal farmers may have limited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to affordable smart farming technology.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 moisture, temperature and water levels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be expensive.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556" y="3784513"/>
            <a:ext cx="7862887" cy="1000125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35" y="3950419"/>
            <a:ext cx="143866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QUESTION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35" y="4201120"/>
            <a:ext cx="8644607" cy="46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safe components recovered from e-waste become affordable technology for local</a:t>
            </a:r>
            <a:endParaRPr lang="en-US" sz="130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problems?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003" y="1383953"/>
            <a:ext cx="3838575" cy="1471613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4385" y="1383953"/>
            <a:ext cx="3838575" cy="14716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301937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7093796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Second-life technology pathway</a:t>
            </a:r>
            <a:endParaRPr lang="en-US" sz="3020" dirty="0"/>
          </a:p>
        </p:txBody>
      </p:sp>
      <p:sp>
        <p:nvSpPr>
          <p:cNvPr id="6" name="Text 4"/>
          <p:cNvSpPr/>
          <p:nvPr/>
        </p:nvSpPr>
        <p:spPr>
          <a:xfrm>
            <a:off x="640035" y="1496764"/>
            <a:ext cx="203747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spc="188" kern="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OBSERVATION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640035" y="1746126"/>
            <a:ext cx="4282194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</a:t>
            </a:r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discarded electronic</a:t>
            </a:r>
            <a:endParaRPr lang="en-US" sz="2520" dirty="0"/>
          </a:p>
        </p:txBody>
      </p:sp>
      <p:sp>
        <p:nvSpPr>
          <p:cNvPr id="8" name="Text 6"/>
          <p:cNvSpPr/>
          <p:nvPr/>
        </p:nvSpPr>
        <p:spPr>
          <a:xfrm>
            <a:off x="640035" y="2078980"/>
            <a:ext cx="4611588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device may be useless as</a:t>
            </a:r>
            <a:endParaRPr lang="en-US" sz="2520" dirty="0"/>
          </a:p>
        </p:txBody>
      </p:sp>
      <p:sp>
        <p:nvSpPr>
          <p:cNvPr id="9" name="Text 7"/>
          <p:cNvSpPr/>
          <p:nvPr/>
        </p:nvSpPr>
        <p:spPr>
          <a:xfrm>
            <a:off x="640035" y="2411834"/>
            <a:ext cx="446812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complete product, but</a:t>
            </a:r>
            <a:endParaRPr lang="en-US" sz="2520" dirty="0"/>
          </a:p>
        </p:txBody>
      </p:sp>
      <p:sp>
        <p:nvSpPr>
          <p:cNvPr id="10" name="Text 8"/>
          <p:cNvSpPr/>
          <p:nvPr/>
        </p:nvSpPr>
        <p:spPr>
          <a:xfrm>
            <a:off x="640035" y="2744688"/>
            <a:ext cx="431508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some components may</a:t>
            </a:r>
            <a:endParaRPr lang="en-US" sz="2520" dirty="0"/>
          </a:p>
        </p:txBody>
      </p:sp>
      <p:sp>
        <p:nvSpPr>
          <p:cNvPr id="11" name="Text 9"/>
          <p:cNvSpPr/>
          <p:nvPr/>
        </p:nvSpPr>
        <p:spPr>
          <a:xfrm>
            <a:off x="640035" y="3077542"/>
            <a:ext cx="4595820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still have a useful second</a:t>
            </a:r>
            <a:endParaRPr lang="en-US" sz="2520" dirty="0"/>
          </a:p>
        </p:txBody>
      </p:sp>
      <p:sp>
        <p:nvSpPr>
          <p:cNvPr id="12" name="Text 10"/>
          <p:cNvSpPr/>
          <p:nvPr/>
        </p:nvSpPr>
        <p:spPr>
          <a:xfrm>
            <a:off x="640035" y="3410396"/>
            <a:ext cx="90380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life.</a:t>
            </a:r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”</a:t>
            </a:r>
            <a:endParaRPr lang="en-US" sz="2520" dirty="0"/>
          </a:p>
        </p:txBody>
      </p:sp>
      <p:sp>
        <p:nvSpPr>
          <p:cNvPr id="13" name="Text 11"/>
          <p:cNvSpPr/>
          <p:nvPr/>
        </p:nvSpPr>
        <p:spPr>
          <a:xfrm>
            <a:off x="4846290" y="1496764"/>
            <a:ext cx="259827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spc="188" kern="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POTENTIALLY REUSABLE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4846290" y="1817563"/>
            <a:ext cx="3829072" cy="1028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Displays · LEDs · Motors · Connectors</a:t>
            </a:r>
            <a:endParaRPr lang="en-US" sz="1300" dirty="0"/>
          </a:p>
          <a:p>
            <a:pPr algn="l" indent="0" marL="0">
              <a:lnSpc>
                <a:spcPts val="2138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Wires · Communication modules</a:t>
            </a:r>
            <a:endParaRPr lang="en-US" sz="1300" dirty="0"/>
          </a:p>
          <a:p>
            <a:pPr algn="l" indent="0" marL="0">
              <a:lnSpc>
                <a:spcPts val="2138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components · Selected sensors</a:t>
            </a:r>
            <a:endParaRPr lang="en-US" sz="1300" dirty="0"/>
          </a:p>
          <a:p>
            <a:pPr algn="l" indent="0" marL="0">
              <a:lnSpc>
                <a:spcPts val="2138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Enclosures · Selected modules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556" y="4369408"/>
            <a:ext cx="7862887" cy="361950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871" y="4460453"/>
            <a:ext cx="84111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1704752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2094681" y="4460453"/>
            <a:ext cx="50756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2719983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3109913" y="4460453"/>
            <a:ext cx="85514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RECOVER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4002584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4392513" y="4460453"/>
            <a:ext cx="46625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4986040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5375970" y="4460453"/>
            <a:ext cx="58853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REUSE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6063555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6453485" y="4460453"/>
            <a:ext cx="85988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349803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7739732" y="4460453"/>
            <a:ext cx="81267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RECYCLE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301472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2858981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Urban waste.</a:t>
            </a:r>
            <a:endParaRPr lang="en-US" sz="3020" dirty="0"/>
          </a:p>
        </p:txBody>
      </p:sp>
      <p:sp>
        <p:nvSpPr>
          <p:cNvPr id="6" name="Text 4"/>
          <p:cNvSpPr/>
          <p:nvPr/>
        </p:nvSpPr>
        <p:spPr>
          <a:xfrm>
            <a:off x="640035" y="1070074"/>
            <a:ext cx="2441168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20" b="1" spc="-181" kern="0" dirty="0">
                <a:solidFill>
                  <a:srgbClr val="1B7F7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Rural need.</a:t>
            </a:r>
            <a:endParaRPr lang="en-US" sz="3020" dirty="0"/>
          </a:p>
        </p:txBody>
      </p:sp>
      <p:sp>
        <p:nvSpPr>
          <p:cNvPr id="7" name="Text 5"/>
          <p:cNvSpPr/>
          <p:nvPr/>
        </p:nvSpPr>
        <p:spPr>
          <a:xfrm>
            <a:off x="640035" y="1657967"/>
            <a:ext cx="4248046" cy="675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78"/>
              </a:lnSpc>
              <a:buNone/>
            </a:pPr>
            <a:r>
              <a:rPr lang="en-US" sz="137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Maharashtra connects electronic-waste</a:t>
            </a:r>
            <a:endParaRPr lang="en-US" sz="1370" dirty="0"/>
          </a:p>
          <a:p>
            <a:pPr algn="l" indent="0" marL="0">
              <a:lnSpc>
                <a:spcPts val="1778"/>
              </a:lnSpc>
              <a:buNone/>
            </a:pPr>
            <a:r>
              <a:rPr lang="en-US" sz="137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generating centres with diverse</a:t>
            </a:r>
            <a:endParaRPr lang="en-US" sz="1370" dirty="0"/>
          </a:p>
          <a:p>
            <a:pPr algn="l" indent="0" marL="0">
              <a:lnSpc>
                <a:spcPts val="1778"/>
              </a:lnSpc>
              <a:buNone/>
            </a:pPr>
            <a:r>
              <a:rPr lang="en-US" sz="137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agricultural regions.</a:t>
            </a:r>
            <a:endParaRPr lang="en-US" sz="137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4387" y="1761083"/>
            <a:ext cx="2195513" cy="17478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52071" y="2345457"/>
            <a:ext cx="213789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60" b="1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MAHARASHTRA</a:t>
            </a:r>
            <a:endParaRPr lang="en-US" sz="1660" dirty="0"/>
          </a:p>
        </p:txBody>
      </p:sp>
      <p:sp>
        <p:nvSpPr>
          <p:cNvPr id="10" name="Text 7"/>
          <p:cNvSpPr/>
          <p:nvPr/>
        </p:nvSpPr>
        <p:spPr>
          <a:xfrm>
            <a:off x="4846216" y="1924496"/>
            <a:ext cx="76266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Mumbai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5029051" y="2387352"/>
            <a:ext cx="49382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Pune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6949306" y="2284512"/>
            <a:ext cx="64860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Nashik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7040761" y="2953196"/>
            <a:ext cx="69746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Nagpur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640035" y="4645521"/>
            <a:ext cx="456815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Cotton · sugarcane · soybean · grapes · vegetables · fruits</a:t>
            </a:r>
            <a:endParaRPr lang="en-US" sz="10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30167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9996912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small kit that makes the invisible </a:t>
            </a:r>
            <a:pPr algn="l" indent="0" marL="0">
              <a:buNone/>
            </a:pPr>
            <a:r>
              <a:rPr lang="en-US" sz="3020" b="1" spc="-181" kern="0" dirty="0">
                <a:solidFill>
                  <a:srgbClr val="D964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measurable.</a:t>
            </a:r>
            <a:endParaRPr lang="en-US" sz="3020" dirty="0"/>
          </a:p>
        </p:txBody>
      </p:sp>
      <p:sp>
        <p:nvSpPr>
          <p:cNvPr id="6" name="Shape 4"/>
          <p:cNvSpPr/>
          <p:nvPr/>
        </p:nvSpPr>
        <p:spPr>
          <a:xfrm>
            <a:off x="638994" y="1333351"/>
            <a:ext cx="3938587" cy="2519362"/>
          </a:xfrm>
          <a:prstGeom prst="rect">
            <a:avLst/>
          </a:prstGeom>
          <a:solidFill>
            <a:srgbClr val="E7E1D4"/>
          </a:solidFill>
          <a:ln w="4763">
            <a:solidFill>
              <a:srgbClr val="0F232D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7218" y="1955304"/>
            <a:ext cx="2466975" cy="976312"/>
          </a:xfrm>
          <a:prstGeom prst="roundRect">
            <a:avLst>
              <a:gd name="adj" fmla="val 18732"/>
            </a:avLst>
          </a:prstGeom>
          <a:solidFill>
            <a:srgbClr val="1B7F78"/>
          </a:solidFill>
          <a:ln w="42863">
            <a:solidFill>
              <a:srgbClr val="10242B"/>
            </a:solidFill>
            <a:prstDash val="solid"/>
          </a:ln>
          <a:effectLst>
            <a:outerShdw sx="100000" sy="100000" kx="0" ky="0" algn="bl" rotWithShape="0" blurRad="101600" dist="129316" dir="2700000">
              <a:srgbClr val="D96445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3441" y="2273945"/>
            <a:ext cx="155910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 NODE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3210483" y="2255751"/>
            <a:ext cx="409575" cy="266700"/>
          </a:xfrm>
          <a:prstGeom prst="rect">
            <a:avLst/>
          </a:prstGeom>
          <a:ln w="14288">
            <a:solidFill>
              <a:srgbClr val="D5E2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8552" y="2309515"/>
            <a:ext cx="36061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62%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1284833" y="3401839"/>
            <a:ext cx="311843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SENSORS → CONTROLLER → DISPLAY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4942284" y="1351955"/>
            <a:ext cx="4234309" cy="4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22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Soil moisture · temperature · humidity · water</a:t>
            </a:r>
            <a:endParaRPr lang="en-US" sz="1220" dirty="0"/>
          </a:p>
          <a:p>
            <a:pPr algn="l" indent="0" marL="0">
              <a:lnSpc>
                <a:spcPts val="1897"/>
              </a:lnSpc>
              <a:buNone/>
            </a:pPr>
            <a:r>
              <a:rPr lang="en-US" sz="122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level · light intensity · irrigation status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941950" y="2122140"/>
            <a:ext cx="3562350" cy="638175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14" name="Text 12"/>
          <p:cNvSpPr/>
          <p:nvPr/>
        </p:nvSpPr>
        <p:spPr>
          <a:xfrm>
            <a:off x="5117529" y="2219399"/>
            <a:ext cx="2952914" cy="4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22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Soil moisture is low — irrigation</a:t>
            </a:r>
            <a:endParaRPr lang="en-US" sz="1220" dirty="0"/>
          </a:p>
          <a:p>
            <a:pPr algn="l" indent="0" marL="0">
              <a:lnSpc>
                <a:spcPts val="1897"/>
              </a:lnSpc>
              <a:buNone/>
            </a:pPr>
            <a:r>
              <a:rPr lang="en-US" sz="122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recommended.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942284" y="2927747"/>
            <a:ext cx="4403311" cy="353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Recovered parts can sit alongside new critical sensors and</a:t>
            </a:r>
            <a:endParaRPr lang="en-US" sz="970" dirty="0"/>
          </a:p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controllers.</a:t>
            </a:r>
            <a:endParaRPr lang="en-US" sz="97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1950" y="2122140"/>
            <a:ext cx="3562350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30001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5367695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second-life pathway</a:t>
            </a:r>
            <a:endParaRPr lang="en-US" sz="3020" dirty="0"/>
          </a:p>
        </p:txBody>
      </p:sp>
      <p:sp>
        <p:nvSpPr>
          <p:cNvPr id="6" name="Shape 4"/>
          <p:cNvSpPr/>
          <p:nvPr/>
        </p:nvSpPr>
        <p:spPr>
          <a:xfrm>
            <a:off x="640519" y="1384771"/>
            <a:ext cx="1862137" cy="833437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640035" y="1473919"/>
            <a:ext cx="19925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640035" y="1643286"/>
            <a:ext cx="1968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E-Waste Collection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40035" y="1871663"/>
            <a:ext cx="2119223" cy="33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Gather devices through local</a:t>
            </a:r>
            <a:endParaRPr lang="en-US" sz="94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centres.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640769" y="1384771"/>
            <a:ext cx="1862137" cy="833437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2640285" y="1473919"/>
            <a:ext cx="2354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640285" y="1643286"/>
            <a:ext cx="77282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Sorting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2640285" y="1871663"/>
            <a:ext cx="235294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Separate by type and condition.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641019" y="1384771"/>
            <a:ext cx="1862137" cy="833437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4640535" y="1473919"/>
            <a:ext cx="23901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4640535" y="1643286"/>
            <a:ext cx="14788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 ID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640535" y="1871663"/>
            <a:ext cx="21733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recoverable modules.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641306" y="1384771"/>
            <a:ext cx="1862137" cy="833437"/>
          </a:xfrm>
          <a:prstGeom prst="rect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6640785" y="1473919"/>
            <a:ext cx="24124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640785" y="1643286"/>
            <a:ext cx="14617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Testing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640785" y="1871663"/>
            <a:ext cx="212860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function and isolation.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40519" y="2423629"/>
            <a:ext cx="1862137" cy="657225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640035" y="2513781"/>
            <a:ext cx="2417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40035" y="2683148"/>
            <a:ext cx="15252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Refurbishment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40035" y="2911525"/>
            <a:ext cx="175626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Repair, clean and adapt.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640769" y="2423629"/>
            <a:ext cx="1862137" cy="657225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2640285" y="2513781"/>
            <a:ext cx="24424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2640285" y="2683148"/>
            <a:ext cx="159112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Prototype Build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2640285" y="2911525"/>
            <a:ext cx="246235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Assemble the field-ready system.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4641019" y="2423629"/>
            <a:ext cx="1862137" cy="657225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4640535" y="2513781"/>
            <a:ext cx="2288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4640535" y="2683148"/>
            <a:ext cx="131552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Farm Testing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4640535" y="2911525"/>
            <a:ext cx="225852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 performance in place.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641306" y="2423629"/>
            <a:ext cx="1862137" cy="657225"/>
          </a:xfrm>
          <a:prstGeom prst="rect">
            <a:avLst/>
          </a:prstGeom>
          <a:ln/>
        </p:spPr>
      </p:sp>
      <p:sp>
        <p:nvSpPr>
          <p:cNvPr id="35" name="Text 33"/>
          <p:cNvSpPr/>
          <p:nvPr/>
        </p:nvSpPr>
        <p:spPr>
          <a:xfrm>
            <a:off x="6640785" y="2513781"/>
            <a:ext cx="2414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6640785" y="2683148"/>
            <a:ext cx="12673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Deployment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6640785" y="2911525"/>
            <a:ext cx="232527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Place with community partners.</a:t>
            </a:r>
            <a:endParaRPr lang="en-US" sz="94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519" y="1384771"/>
            <a:ext cx="1862137" cy="833437"/>
          </a:xfrm>
          <a:prstGeom prst="rect">
            <a:avLst/>
          </a:prstGeom>
        </p:spPr>
      </p:pic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0769" y="1384771"/>
            <a:ext cx="1862137" cy="833437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1019" y="1384771"/>
            <a:ext cx="1862137" cy="833437"/>
          </a:xfrm>
          <a:prstGeom prst="rect">
            <a:avLst/>
          </a:prstGeom>
        </p:spPr>
      </p:pic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1306" y="1384771"/>
            <a:ext cx="1862137" cy="833437"/>
          </a:xfrm>
          <a:prstGeom prst="rect">
            <a:avLst/>
          </a:prstGeom>
        </p:spPr>
      </p:pic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519" y="2423629"/>
            <a:ext cx="1862137" cy="657225"/>
          </a:xfrm>
          <a:prstGeom prst="rect">
            <a:avLst/>
          </a:prstGeom>
        </p:spPr>
      </p:pic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40769" y="2423629"/>
            <a:ext cx="1862137" cy="657225"/>
          </a:xfrm>
          <a:prstGeom prst="rect">
            <a:avLst/>
          </a:prstGeom>
        </p:spPr>
      </p:pic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41019" y="2423629"/>
            <a:ext cx="1862137" cy="657225"/>
          </a:xfrm>
          <a:prstGeom prst="rect">
            <a:avLst/>
          </a:prstGeom>
        </p:spPr>
      </p:pic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41306" y="2423629"/>
            <a:ext cx="1862137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30164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8225924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Designed for the people closest to the</a:t>
            </a:r>
            <a:endParaRPr lang="en-US" sz="3020" dirty="0"/>
          </a:p>
        </p:txBody>
      </p:sp>
      <p:sp>
        <p:nvSpPr>
          <p:cNvPr id="6" name="Text 4"/>
          <p:cNvSpPr/>
          <p:nvPr/>
        </p:nvSpPr>
        <p:spPr>
          <a:xfrm>
            <a:off x="640035" y="1070074"/>
            <a:ext cx="1944514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problem.</a:t>
            </a:r>
            <a:endParaRPr lang="en-US" sz="3020" dirty="0"/>
          </a:p>
        </p:txBody>
      </p:sp>
      <p:sp>
        <p:nvSpPr>
          <p:cNvPr id="7" name="Text 5"/>
          <p:cNvSpPr/>
          <p:nvPr/>
        </p:nvSpPr>
        <p:spPr>
          <a:xfrm>
            <a:off x="640035" y="1770236"/>
            <a:ext cx="205373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75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AUDIENCE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639663" y="2049363"/>
            <a:ext cx="3333750" cy="533400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9" name="Text 7"/>
          <p:cNvSpPr/>
          <p:nvPr/>
        </p:nvSpPr>
        <p:spPr>
          <a:xfrm>
            <a:off x="822871" y="2191122"/>
            <a:ext cx="33826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151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and marginal farmers</a:t>
            </a:r>
            <a:endParaRPr lang="en-US" sz="1510" dirty="0"/>
          </a:p>
        </p:txBody>
      </p:sp>
      <p:sp>
        <p:nvSpPr>
          <p:cNvPr id="10" name="Text 8"/>
          <p:cNvSpPr/>
          <p:nvPr/>
        </p:nvSpPr>
        <p:spPr>
          <a:xfrm>
            <a:off x="640035" y="2747218"/>
            <a:ext cx="4302606" cy="6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12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Partners: agricultural colleges · NGOs · rural</a:t>
            </a:r>
            <a:endParaRPr lang="en-US" sz="1120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12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innovation centres · e-waste centres · engineering</a:t>
            </a:r>
            <a:endParaRPr lang="en-US" sz="1120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12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colleges · environmental organizations · startups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431395" y="1760860"/>
            <a:ext cx="1276350" cy="1614488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4430241" y="1880667"/>
            <a:ext cx="140868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B7F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ENVIRONMENTAL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4430241" y="2135431"/>
            <a:ext cx="1662715" cy="1160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Extends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 life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avoidable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e-waste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Circular economy</a:t>
            </a:r>
            <a:endParaRPr lang="en-US" sz="1190" dirty="0"/>
          </a:p>
        </p:txBody>
      </p:sp>
      <p:sp>
        <p:nvSpPr>
          <p:cNvPr id="14" name="Shape 12"/>
          <p:cNvSpPr/>
          <p:nvPr/>
        </p:nvSpPr>
        <p:spPr>
          <a:xfrm>
            <a:off x="5828891" y="1760860"/>
            <a:ext cx="1276350" cy="1614488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5827737" y="1880667"/>
            <a:ext cx="124296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AGRICULTURAL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5827737" y="2135431"/>
            <a:ext cx="1221782" cy="1160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local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decisions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participation</a:t>
            </a:r>
            <a:endParaRPr lang="en-US" sz="1190" dirty="0"/>
          </a:p>
        </p:txBody>
      </p:sp>
      <p:sp>
        <p:nvSpPr>
          <p:cNvPr id="17" name="Shape 15"/>
          <p:cNvSpPr/>
          <p:nvPr/>
        </p:nvSpPr>
        <p:spPr>
          <a:xfrm>
            <a:off x="7224043" y="1760860"/>
            <a:ext cx="1281112" cy="1614488"/>
          </a:xfrm>
          <a:prstGeom prst="rect">
            <a:avLst/>
          </a:prstGeom>
          <a:ln/>
        </p:spPr>
      </p:sp>
      <p:sp>
        <p:nvSpPr>
          <p:cNvPr id="18" name="Text 16"/>
          <p:cNvSpPr/>
          <p:nvPr/>
        </p:nvSpPr>
        <p:spPr>
          <a:xfrm>
            <a:off x="7225233" y="1880667"/>
            <a:ext cx="9416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B982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ECONOMIC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7225233" y="2135431"/>
            <a:ext cx="1621795" cy="774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Collection, repair,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testing and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assembly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opportunities</a:t>
            </a:r>
            <a:endParaRPr lang="en-US" sz="119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1395" y="1760860"/>
            <a:ext cx="1276350" cy="1614488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8891" y="1760860"/>
            <a:ext cx="1276350" cy="1614488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4043" y="1760860"/>
            <a:ext cx="1281112" cy="1614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30167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3507321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signals for</a:t>
            </a:r>
            <a:endParaRPr lang="en-US" sz="3020" dirty="0"/>
          </a:p>
        </p:txBody>
      </p:sp>
      <p:sp>
        <p:nvSpPr>
          <p:cNvPr id="6" name="Text 4"/>
          <p:cNvSpPr/>
          <p:nvPr/>
        </p:nvSpPr>
        <p:spPr>
          <a:xfrm>
            <a:off x="640035" y="1070074"/>
            <a:ext cx="4627937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20" b="1" spc="-181" kern="0" dirty="0">
                <a:solidFill>
                  <a:srgbClr val="D5E2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coastal communities.</a:t>
            </a:r>
            <a:endParaRPr lang="en-US" sz="3020" dirty="0"/>
          </a:p>
        </p:txBody>
      </p:sp>
      <p:sp>
        <p:nvSpPr>
          <p:cNvPr id="7" name="Text 5"/>
          <p:cNvSpPr/>
          <p:nvPr/>
        </p:nvSpPr>
        <p:spPr>
          <a:xfrm>
            <a:off x="640035" y="1643509"/>
            <a:ext cx="577428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580" dirty="0">
                <a:solidFill>
                  <a:srgbClr val="CCCD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Converting discarded electronics into low-cost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640035" y="1880815"/>
            <a:ext cx="428722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1580" dirty="0">
                <a:solidFill>
                  <a:srgbClr val="CCCD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environmental monitoring systems.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640035" y="2165747"/>
            <a:ext cx="188095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8F949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Region: Kerala, India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640035" y="4528989"/>
            <a:ext cx="60092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B0B4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Urban e-waste </a:t>
            </a:r>
            <a:pPr algn="l" indent="0" marL="0">
              <a:buNone/>
            </a:pPr>
            <a:r>
              <a:rPr lang="en-US" sz="112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buNone/>
            </a:pPr>
            <a:r>
              <a:rPr lang="en-US" sz="1120" dirty="0">
                <a:solidFill>
                  <a:srgbClr val="B0B4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recovery </a:t>
            </a:r>
            <a:pPr algn="l" indent="0" marL="0">
              <a:buNone/>
            </a:pPr>
            <a:r>
              <a:rPr lang="en-US" sz="112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buNone/>
            </a:pPr>
            <a:r>
              <a:rPr lang="en-US" sz="1120" dirty="0">
                <a:solidFill>
                  <a:srgbClr val="B0B4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monitoring node </a:t>
            </a:r>
            <a:pPr algn="l" indent="0" marL="0">
              <a:buNone/>
            </a:pPr>
            <a:r>
              <a:rPr lang="en-US" sz="112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pPr algn="l" indent="0" marL="0">
              <a:buNone/>
            </a:pPr>
            <a:r>
              <a:rPr lang="en-US" sz="1120" dirty="0">
                <a:solidFill>
                  <a:srgbClr val="B0B4A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coastal communities</a:t>
            </a:r>
            <a:endParaRPr lang="en-US" sz="112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556" y="4385258"/>
            <a:ext cx="7862887" cy="3476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297351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9068998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coastline that needs more </a:t>
            </a:r>
            <a:pPr algn="l" indent="0" marL="0">
              <a:buNone/>
            </a:pPr>
            <a:r>
              <a:rPr lang="en-US" sz="3020" b="1" spc="-181" kern="0" dirty="0">
                <a:solidFill>
                  <a:srgbClr val="D9644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 visibility.</a:t>
            </a:r>
            <a:endParaRPr lang="en-US" sz="3020" dirty="0"/>
          </a:p>
        </p:txBody>
      </p:sp>
      <p:sp>
        <p:nvSpPr>
          <p:cNvPr id="6" name="Shape 4"/>
          <p:cNvSpPr/>
          <p:nvPr/>
        </p:nvSpPr>
        <p:spPr>
          <a:xfrm>
            <a:off x="641003" y="1383953"/>
            <a:ext cx="3838575" cy="1471613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640035" y="1544389"/>
            <a:ext cx="2480444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E-Waste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35" y="1966317"/>
            <a:ext cx="4935952" cy="880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Discarded phones, computers, routers, chargers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devices may still contain useful components.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every part needs to immediately become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material waste.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4385" y="1383953"/>
            <a:ext cx="3838575" cy="1471613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4663380" y="1544389"/>
            <a:ext cx="2383222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Coastal Problem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63380" y="1966317"/>
            <a:ext cx="5008892" cy="658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Heavy rainfall, waterlogging, flooding and changing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water levels can affect low-lying</a:t>
            </a:r>
            <a:endParaRPr lang="en-US" sz="130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556" y="3784513"/>
            <a:ext cx="7862887" cy="1000125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35" y="3950419"/>
            <a:ext cx="1438669" cy="147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62" kern="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QUESTION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35" y="4201120"/>
            <a:ext cx="8644607" cy="46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 safe components recovered from e-waste become affordable technology for local</a:t>
            </a:r>
            <a:endParaRPr lang="en-US" sz="130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problems?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1003" y="1383953"/>
            <a:ext cx="3838575" cy="1471613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4385" y="1383953"/>
            <a:ext cx="3838575" cy="14716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29189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5963699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Circular economy meets IoT</a:t>
            </a:r>
            <a:endParaRPr lang="en-US" sz="3020" dirty="0"/>
          </a:p>
        </p:txBody>
      </p:sp>
      <p:sp>
        <p:nvSpPr>
          <p:cNvPr id="6" name="Text 4"/>
          <p:cNvSpPr/>
          <p:nvPr/>
        </p:nvSpPr>
        <p:spPr>
          <a:xfrm>
            <a:off x="640035" y="1496764"/>
            <a:ext cx="203747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spc="188" kern="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OBSERVATION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640035" y="1746126"/>
            <a:ext cx="401732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</a:t>
            </a:r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Electronic waste can</a:t>
            </a:r>
            <a:endParaRPr lang="en-US" sz="2520" dirty="0"/>
          </a:p>
        </p:txBody>
      </p:sp>
      <p:sp>
        <p:nvSpPr>
          <p:cNvPr id="8" name="Text 6"/>
          <p:cNvSpPr/>
          <p:nvPr/>
        </p:nvSpPr>
        <p:spPr>
          <a:xfrm>
            <a:off x="640035" y="2078980"/>
            <a:ext cx="413786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become a resource for</a:t>
            </a:r>
            <a:endParaRPr lang="en-US" sz="2520" dirty="0"/>
          </a:p>
        </p:txBody>
      </p:sp>
      <p:sp>
        <p:nvSpPr>
          <p:cNvPr id="9" name="Text 7"/>
          <p:cNvSpPr/>
          <p:nvPr/>
        </p:nvSpPr>
        <p:spPr>
          <a:xfrm>
            <a:off x="640035" y="2411834"/>
            <a:ext cx="321933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building low-cost</a:t>
            </a:r>
            <a:endParaRPr lang="en-US" sz="2520" dirty="0"/>
          </a:p>
        </p:txBody>
      </p:sp>
      <p:sp>
        <p:nvSpPr>
          <p:cNvPr id="10" name="Text 8"/>
          <p:cNvSpPr/>
          <p:nvPr/>
        </p:nvSpPr>
        <p:spPr>
          <a:xfrm>
            <a:off x="640035" y="2744688"/>
            <a:ext cx="2670341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environmental</a:t>
            </a:r>
            <a:endParaRPr lang="en-US" sz="2520" dirty="0"/>
          </a:p>
        </p:txBody>
      </p:sp>
      <p:sp>
        <p:nvSpPr>
          <p:cNvPr id="11" name="Text 9"/>
          <p:cNvSpPr/>
          <p:nvPr/>
        </p:nvSpPr>
        <p:spPr>
          <a:xfrm>
            <a:off x="640035" y="3077542"/>
            <a:ext cx="2465353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technology.</a:t>
            </a:r>
            <a:pPr algn="l" indent="0" marL="0">
              <a:spcBef>
                <a:spcPts val="810"/>
              </a:spcBef>
              <a:buNone/>
            </a:pPr>
            <a:r>
              <a:rPr lang="en-US" sz="2520" b="1" spc="-126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”</a:t>
            </a:r>
            <a:endParaRPr lang="en-US" sz="2520" dirty="0"/>
          </a:p>
        </p:txBody>
      </p:sp>
      <p:sp>
        <p:nvSpPr>
          <p:cNvPr id="12" name="Text 10"/>
          <p:cNvSpPr/>
          <p:nvPr/>
        </p:nvSpPr>
        <p:spPr>
          <a:xfrm>
            <a:off x="4846290" y="1496764"/>
            <a:ext cx="259827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spc="188" kern="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POTENTIALLY REUSABLE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4846290" y="1817563"/>
            <a:ext cx="3829072" cy="1028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Displays · LEDs · Motors · Connectors</a:t>
            </a:r>
            <a:endParaRPr lang="en-US" sz="1300" dirty="0"/>
          </a:p>
          <a:p>
            <a:pPr algn="l" indent="0" marL="0">
              <a:lnSpc>
                <a:spcPts val="2138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Wires · Communication modules</a:t>
            </a:r>
            <a:endParaRPr lang="en-US" sz="1300" dirty="0"/>
          </a:p>
          <a:p>
            <a:pPr algn="l" indent="0" marL="0">
              <a:lnSpc>
                <a:spcPts val="2138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components · Selected sensors</a:t>
            </a:r>
            <a:endParaRPr lang="en-US" sz="1300" dirty="0"/>
          </a:p>
          <a:p>
            <a:pPr algn="l" indent="0" marL="0">
              <a:lnSpc>
                <a:spcPts val="2138"/>
              </a:lnSpc>
              <a:buNone/>
            </a:pPr>
            <a:r>
              <a:rPr lang="en-US" sz="130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Enclosures · Selected modules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556" y="4369408"/>
            <a:ext cx="7862887" cy="361950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871" y="4460453"/>
            <a:ext cx="84111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1704752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2094681" y="4460453"/>
            <a:ext cx="50756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2719983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3109913" y="4460453"/>
            <a:ext cx="85514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RECOVER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002584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4392513" y="4460453"/>
            <a:ext cx="46625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4986040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5375970" y="4460453"/>
            <a:ext cx="58853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REUSE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6063555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6453485" y="4460453"/>
            <a:ext cx="85988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349803" y="4460453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739732" y="4460453"/>
            <a:ext cx="81267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RECYCLE</a:t>
            </a:r>
            <a:endParaRPr lang="en-US" sz="10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295310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9367532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weatherproof node for </a:t>
            </a:r>
            <a:pPr algn="l" indent="0" marL="0">
              <a:buNone/>
            </a:pPr>
            <a:r>
              <a:rPr lang="en-US" sz="3020" b="1" spc="-181" kern="0" dirty="0">
                <a:solidFill>
                  <a:srgbClr val="1B7F7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shared awareness.</a:t>
            </a:r>
            <a:endParaRPr lang="en-US" sz="3020" dirty="0"/>
          </a:p>
        </p:txBody>
      </p:sp>
      <p:sp>
        <p:nvSpPr>
          <p:cNvPr id="6" name="Shape 4"/>
          <p:cNvSpPr/>
          <p:nvPr/>
        </p:nvSpPr>
        <p:spPr>
          <a:xfrm>
            <a:off x="638994" y="1333351"/>
            <a:ext cx="3938587" cy="2519362"/>
          </a:xfrm>
          <a:prstGeom prst="rect">
            <a:avLst/>
          </a:prstGeom>
          <a:solidFill>
            <a:srgbClr val="E7E1D4"/>
          </a:solidFill>
          <a:ln w="4763">
            <a:solidFill>
              <a:srgbClr val="0F232D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7218" y="1955304"/>
            <a:ext cx="2466975" cy="976312"/>
          </a:xfrm>
          <a:prstGeom prst="roundRect">
            <a:avLst>
              <a:gd name="adj" fmla="val 18732"/>
            </a:avLst>
          </a:prstGeom>
          <a:solidFill>
            <a:srgbClr val="1B7F78"/>
          </a:solidFill>
          <a:ln w="42863">
            <a:solidFill>
              <a:srgbClr val="10242B"/>
            </a:solidFill>
            <a:prstDash val="solid"/>
          </a:ln>
          <a:effectLst>
            <a:outerShdw sx="100000" sy="100000" kx="0" ky="0" algn="bl" rotWithShape="0" blurRad="101600" dist="129316" dir="2700000">
              <a:srgbClr val="D96445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3441" y="2273945"/>
            <a:ext cx="204792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COASTAL NODE</a:t>
            </a:r>
            <a:endParaRPr lang="en-US" sz="1580" dirty="0"/>
          </a:p>
        </p:txBody>
      </p:sp>
      <p:sp>
        <p:nvSpPr>
          <p:cNvPr id="9" name="Shape 7"/>
          <p:cNvSpPr/>
          <p:nvPr/>
        </p:nvSpPr>
        <p:spPr>
          <a:xfrm>
            <a:off x="3076835" y="2255751"/>
            <a:ext cx="542925" cy="266700"/>
          </a:xfrm>
          <a:prstGeom prst="rect">
            <a:avLst/>
          </a:prstGeom>
          <a:ln w="14288">
            <a:solidFill>
              <a:srgbClr val="D5E2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4607" y="2309515"/>
            <a:ext cx="53474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RISING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1284833" y="3401839"/>
            <a:ext cx="311843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SENSORS → CONTROLLER → DISPLAY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4942284" y="1351955"/>
            <a:ext cx="4628614" cy="681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7"/>
              </a:lnSpc>
              <a:buNone/>
            </a:pPr>
            <a:r>
              <a:rPr lang="en-US" sz="122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Water level · rainfall · temperature · basic</a:t>
            </a:r>
            <a:endParaRPr lang="en-US" sz="1220" dirty="0"/>
          </a:p>
          <a:p>
            <a:pPr algn="l" indent="0" marL="0">
              <a:lnSpc>
                <a:spcPts val="1897"/>
              </a:lnSpc>
              <a:buNone/>
            </a:pPr>
            <a:r>
              <a:rPr lang="en-US" sz="122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environmental conditions · communication · local</a:t>
            </a:r>
            <a:endParaRPr lang="en-US" sz="1220" dirty="0"/>
          </a:p>
          <a:p>
            <a:pPr algn="l" indent="0" marL="0">
              <a:lnSpc>
                <a:spcPts val="1897"/>
              </a:lnSpc>
              <a:buNone/>
            </a:pPr>
            <a:r>
              <a:rPr lang="en-US" sz="122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display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941950" y="2364023"/>
            <a:ext cx="3562350" cy="395287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14" name="Text 12"/>
          <p:cNvSpPr/>
          <p:nvPr/>
        </p:nvSpPr>
        <p:spPr>
          <a:xfrm>
            <a:off x="5117529" y="2460278"/>
            <a:ext cx="205305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430"/>
              </a:spcBef>
              <a:buNone/>
            </a:pPr>
            <a:r>
              <a:rPr lang="en-US" sz="1220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WATER LEVEL: RISING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4942284" y="2927747"/>
            <a:ext cx="4403311" cy="353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Recovered parts can sit alongside new critical sensors and</a:t>
            </a:r>
            <a:endParaRPr lang="en-US" sz="970" dirty="0"/>
          </a:p>
          <a:p>
            <a:pPr algn="l" indent="0" marL="0">
              <a:lnSpc>
                <a:spcPts val="1506"/>
              </a:lnSpc>
              <a:buNone/>
            </a:pPr>
            <a:r>
              <a:rPr lang="en-US" sz="97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controllers.</a:t>
            </a:r>
            <a:endParaRPr lang="en-US" sz="97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1950" y="2364023"/>
            <a:ext cx="3562350" cy="3952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29572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7897981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From discarded parts to a field signal</a:t>
            </a:r>
            <a:endParaRPr lang="en-US" sz="3020" dirty="0"/>
          </a:p>
        </p:txBody>
      </p:sp>
      <p:sp>
        <p:nvSpPr>
          <p:cNvPr id="6" name="Shape 4"/>
          <p:cNvSpPr/>
          <p:nvPr/>
        </p:nvSpPr>
        <p:spPr>
          <a:xfrm>
            <a:off x="640519" y="1384771"/>
            <a:ext cx="1862137" cy="833437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640035" y="1473919"/>
            <a:ext cx="19925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640035" y="1643286"/>
            <a:ext cx="19687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E-Waste Collection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40035" y="1871663"/>
            <a:ext cx="2119223" cy="335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Gather devices through local</a:t>
            </a:r>
            <a:endParaRPr lang="en-US" sz="94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centres.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2640769" y="1384771"/>
            <a:ext cx="1862137" cy="833437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2640285" y="1473919"/>
            <a:ext cx="2354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640285" y="1643286"/>
            <a:ext cx="77282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Sorting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2640285" y="1871663"/>
            <a:ext cx="235294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Separate by type and condition.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4641019" y="1384771"/>
            <a:ext cx="1862137" cy="833437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4640535" y="1473919"/>
            <a:ext cx="23901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4640535" y="1643286"/>
            <a:ext cx="14788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 ID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4640535" y="1871663"/>
            <a:ext cx="217339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recoverable modules.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641306" y="1384771"/>
            <a:ext cx="1862137" cy="833437"/>
          </a:xfrm>
          <a:prstGeom prst="rect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6640785" y="1473919"/>
            <a:ext cx="24124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6640785" y="1643286"/>
            <a:ext cx="146179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Testing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6640785" y="1871663"/>
            <a:ext cx="212860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function and isolation.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640519" y="2423629"/>
            <a:ext cx="1862137" cy="657225"/>
          </a:xfrm>
          <a:prstGeom prst="rect">
            <a:avLst/>
          </a:prstGeom>
          <a:ln/>
        </p:spPr>
      </p:sp>
      <p:sp>
        <p:nvSpPr>
          <p:cNvPr id="23" name="Text 21"/>
          <p:cNvSpPr/>
          <p:nvPr/>
        </p:nvSpPr>
        <p:spPr>
          <a:xfrm>
            <a:off x="640035" y="2513781"/>
            <a:ext cx="24172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860" dirty="0"/>
          </a:p>
        </p:txBody>
      </p:sp>
      <p:sp>
        <p:nvSpPr>
          <p:cNvPr id="24" name="Text 22"/>
          <p:cNvSpPr/>
          <p:nvPr/>
        </p:nvSpPr>
        <p:spPr>
          <a:xfrm>
            <a:off x="640035" y="2683148"/>
            <a:ext cx="15252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Refurbishment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640035" y="2911525"/>
            <a:ext cx="175626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Repair, clean and adapt.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640769" y="2423629"/>
            <a:ext cx="1862137" cy="657225"/>
          </a:xfrm>
          <a:prstGeom prst="rect">
            <a:avLst/>
          </a:prstGeom>
          <a:ln/>
        </p:spPr>
      </p:sp>
      <p:sp>
        <p:nvSpPr>
          <p:cNvPr id="27" name="Text 25"/>
          <p:cNvSpPr/>
          <p:nvPr/>
        </p:nvSpPr>
        <p:spPr>
          <a:xfrm>
            <a:off x="2640285" y="2513781"/>
            <a:ext cx="24424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860" dirty="0"/>
          </a:p>
        </p:txBody>
      </p:sp>
      <p:sp>
        <p:nvSpPr>
          <p:cNvPr id="28" name="Text 26"/>
          <p:cNvSpPr/>
          <p:nvPr/>
        </p:nvSpPr>
        <p:spPr>
          <a:xfrm>
            <a:off x="2640285" y="2683148"/>
            <a:ext cx="160689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Node Assembly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2640285" y="2911525"/>
            <a:ext cx="246235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Assemble the field-ready system.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4641019" y="2423629"/>
            <a:ext cx="1862137" cy="657225"/>
          </a:xfrm>
          <a:prstGeom prst="rect">
            <a:avLst/>
          </a:prstGeom>
          <a:ln/>
        </p:spPr>
      </p:sp>
      <p:sp>
        <p:nvSpPr>
          <p:cNvPr id="31" name="Text 29"/>
          <p:cNvSpPr/>
          <p:nvPr/>
        </p:nvSpPr>
        <p:spPr>
          <a:xfrm>
            <a:off x="4640535" y="2513781"/>
            <a:ext cx="22886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860" dirty="0"/>
          </a:p>
        </p:txBody>
      </p:sp>
      <p:sp>
        <p:nvSpPr>
          <p:cNvPr id="32" name="Text 30"/>
          <p:cNvSpPr/>
          <p:nvPr/>
        </p:nvSpPr>
        <p:spPr>
          <a:xfrm>
            <a:off x="4640535" y="2683148"/>
            <a:ext cx="16796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Field Calibration</a:t>
            </a:r>
            <a:endParaRPr lang="en-US" sz="1220" dirty="0"/>
          </a:p>
        </p:txBody>
      </p:sp>
      <p:sp>
        <p:nvSpPr>
          <p:cNvPr id="33" name="Text 31"/>
          <p:cNvSpPr/>
          <p:nvPr/>
        </p:nvSpPr>
        <p:spPr>
          <a:xfrm>
            <a:off x="4640535" y="2911525"/>
            <a:ext cx="225852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Observe performance in place.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641306" y="2423629"/>
            <a:ext cx="1862137" cy="657225"/>
          </a:xfrm>
          <a:prstGeom prst="rect">
            <a:avLst/>
          </a:prstGeom>
          <a:ln/>
        </p:spPr>
      </p:sp>
      <p:sp>
        <p:nvSpPr>
          <p:cNvPr id="35" name="Text 33"/>
          <p:cNvSpPr/>
          <p:nvPr/>
        </p:nvSpPr>
        <p:spPr>
          <a:xfrm>
            <a:off x="6640785" y="2513781"/>
            <a:ext cx="24143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6640785" y="2683148"/>
            <a:ext cx="16438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Monitoring</a:t>
            </a:r>
            <a:endParaRPr lang="en-US" sz="1220" dirty="0"/>
          </a:p>
        </p:txBody>
      </p:sp>
      <p:sp>
        <p:nvSpPr>
          <p:cNvPr id="37" name="Text 35"/>
          <p:cNvSpPr/>
          <p:nvPr/>
        </p:nvSpPr>
        <p:spPr>
          <a:xfrm>
            <a:off x="6640785" y="2911525"/>
            <a:ext cx="232527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A4A9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Place with community partners.</a:t>
            </a:r>
            <a:endParaRPr lang="en-US" sz="940" dirty="0"/>
          </a:p>
        </p:txBody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519" y="1384771"/>
            <a:ext cx="1862137" cy="833437"/>
          </a:xfrm>
          <a:prstGeom prst="rect">
            <a:avLst/>
          </a:prstGeom>
        </p:spPr>
      </p:pic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0769" y="1384771"/>
            <a:ext cx="1862137" cy="833437"/>
          </a:xfrm>
          <a:prstGeom prst="rect">
            <a:avLst/>
          </a:prstGeom>
        </p:spPr>
      </p:pic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1019" y="1384771"/>
            <a:ext cx="1862137" cy="833437"/>
          </a:xfrm>
          <a:prstGeom prst="rect">
            <a:avLst/>
          </a:prstGeom>
        </p:spPr>
      </p:pic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1306" y="1384771"/>
            <a:ext cx="1862137" cy="833437"/>
          </a:xfrm>
          <a:prstGeom prst="rect">
            <a:avLst/>
          </a:prstGeom>
        </p:spPr>
      </p:pic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519" y="2423629"/>
            <a:ext cx="1862137" cy="657225"/>
          </a:xfrm>
          <a:prstGeom prst="rect">
            <a:avLst/>
          </a:prstGeom>
        </p:spPr>
      </p:pic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40769" y="2423629"/>
            <a:ext cx="1862137" cy="657225"/>
          </a:xfrm>
          <a:prstGeom prst="rect">
            <a:avLst/>
          </a:prstGeom>
        </p:spPr>
      </p:pic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641019" y="2423629"/>
            <a:ext cx="1862137" cy="657225"/>
          </a:xfrm>
          <a:prstGeom prst="rect">
            <a:avLst/>
          </a:prstGeom>
        </p:spPr>
      </p:pic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41306" y="2423629"/>
            <a:ext cx="1862137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296481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7661359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Information becomes useful when a</a:t>
            </a:r>
            <a:endParaRPr lang="en-US" sz="3020" dirty="0"/>
          </a:p>
        </p:txBody>
      </p:sp>
      <p:sp>
        <p:nvSpPr>
          <p:cNvPr id="6" name="Text 4"/>
          <p:cNvSpPr/>
          <p:nvPr/>
        </p:nvSpPr>
        <p:spPr>
          <a:xfrm>
            <a:off x="640035" y="1070074"/>
            <a:ext cx="5381238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community can act on it.</a:t>
            </a:r>
            <a:endParaRPr lang="en-US" sz="3020" dirty="0"/>
          </a:p>
        </p:txBody>
      </p:sp>
      <p:sp>
        <p:nvSpPr>
          <p:cNvPr id="7" name="Text 5"/>
          <p:cNvSpPr/>
          <p:nvPr/>
        </p:nvSpPr>
        <p:spPr>
          <a:xfrm>
            <a:off x="640035" y="1770236"/>
            <a:ext cx="205373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75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AUDIENCE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639663" y="2048098"/>
            <a:ext cx="3333750" cy="823913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9" name="Text 7"/>
          <p:cNvSpPr/>
          <p:nvPr/>
        </p:nvSpPr>
        <p:spPr>
          <a:xfrm>
            <a:off x="822871" y="2191122"/>
            <a:ext cx="3875410" cy="53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151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Coastal communities · local</a:t>
            </a:r>
            <a:endParaRPr lang="en-US" sz="1510" dirty="0"/>
          </a:p>
          <a:p>
            <a:pPr algn="l" indent="0" marL="0">
              <a:lnSpc>
                <a:spcPts val="2268"/>
              </a:lnSpc>
              <a:buNone/>
            </a:pPr>
            <a:r>
              <a:rPr lang="en-US" sz="151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organizations · local authorities</a:t>
            </a:r>
            <a:endParaRPr lang="en-US" sz="1510" dirty="0"/>
          </a:p>
        </p:txBody>
      </p:sp>
      <p:sp>
        <p:nvSpPr>
          <p:cNvPr id="10" name="Text 8"/>
          <p:cNvSpPr/>
          <p:nvPr/>
        </p:nvSpPr>
        <p:spPr>
          <a:xfrm>
            <a:off x="640035" y="3035201"/>
            <a:ext cx="4302606" cy="610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12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Partners: agricultural colleges · NGOs · rural</a:t>
            </a:r>
            <a:endParaRPr lang="en-US" sz="1120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12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innovation centres · e-waste centres · engineering</a:t>
            </a:r>
            <a:endParaRPr lang="en-US" sz="1120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12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colleges · environmental organizations · startups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431395" y="1759595"/>
            <a:ext cx="1276350" cy="1905000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4430241" y="1880667"/>
            <a:ext cx="140868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B7F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ENVIRONMENTAL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4430241" y="2135431"/>
            <a:ext cx="1662715" cy="1160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Extends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component life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Reduces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avoidable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e-waste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Circular economy</a:t>
            </a:r>
            <a:endParaRPr lang="en-US" sz="1190" dirty="0"/>
          </a:p>
        </p:txBody>
      </p:sp>
      <p:sp>
        <p:nvSpPr>
          <p:cNvPr id="14" name="Shape 12"/>
          <p:cNvSpPr/>
          <p:nvPr/>
        </p:nvSpPr>
        <p:spPr>
          <a:xfrm>
            <a:off x="5828891" y="1759595"/>
            <a:ext cx="1276350" cy="1905000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5827737" y="1880667"/>
            <a:ext cx="64522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SOCIAL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5827737" y="2135431"/>
            <a:ext cx="1221782" cy="1160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local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decisions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Community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participation</a:t>
            </a:r>
            <a:endParaRPr lang="en-US" sz="1190" dirty="0"/>
          </a:p>
        </p:txBody>
      </p:sp>
      <p:sp>
        <p:nvSpPr>
          <p:cNvPr id="17" name="Shape 15"/>
          <p:cNvSpPr/>
          <p:nvPr/>
        </p:nvSpPr>
        <p:spPr>
          <a:xfrm>
            <a:off x="7224043" y="1759595"/>
            <a:ext cx="1281112" cy="1905000"/>
          </a:xfrm>
          <a:prstGeom prst="rect">
            <a:avLst/>
          </a:prstGeom>
          <a:ln/>
        </p:spPr>
      </p:sp>
      <p:sp>
        <p:nvSpPr>
          <p:cNvPr id="18" name="Text 16"/>
          <p:cNvSpPr/>
          <p:nvPr/>
        </p:nvSpPr>
        <p:spPr>
          <a:xfrm>
            <a:off x="7225233" y="1880667"/>
            <a:ext cx="94162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B982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ECONOMIC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7225233" y="2135431"/>
            <a:ext cx="1621795" cy="774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Collection, repair,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testing and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assembly</a:t>
            </a:r>
            <a:endParaRPr lang="en-US" sz="1190" dirty="0"/>
          </a:p>
          <a:p>
            <a:pPr algn="l" indent="0" marL="0">
              <a:lnSpc>
                <a:spcPts val="1521"/>
              </a:lnSpc>
              <a:buNone/>
            </a:pPr>
            <a:r>
              <a:rPr lang="en-US" sz="119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opportunities</a:t>
            </a:r>
            <a:endParaRPr lang="en-US" sz="119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1395" y="1759595"/>
            <a:ext cx="1276350" cy="190500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28891" y="1759595"/>
            <a:ext cx="1276350" cy="19050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4043" y="1759595"/>
            <a:ext cx="1281112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1E8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296016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6955073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1024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ideas. One circular principle.</a:t>
            </a:r>
            <a:endParaRPr lang="en-US" sz="3020" dirty="0"/>
          </a:p>
        </p:txBody>
      </p:sp>
      <p:sp>
        <p:nvSpPr>
          <p:cNvPr id="6" name="Shape 4"/>
          <p:cNvSpPr/>
          <p:nvPr/>
        </p:nvSpPr>
        <p:spPr>
          <a:xfrm>
            <a:off x="640556" y="1332905"/>
            <a:ext cx="7862887" cy="1724025"/>
          </a:xfrm>
          <a:prstGeom prst="rect">
            <a:avLst/>
          </a:prstGeom>
          <a:ln/>
        </p:spPr>
      </p:sp>
      <p:sp>
        <p:nvSpPr>
          <p:cNvPr id="7" name="Shape 5"/>
          <p:cNvSpPr/>
          <p:nvPr/>
        </p:nvSpPr>
        <p:spPr>
          <a:xfrm>
            <a:off x="640556" y="1362075"/>
            <a:ext cx="7862887" cy="342900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640035" y="1437829"/>
            <a:ext cx="7283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430414" y="1437829"/>
            <a:ext cx="117118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Maharashtra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967189" y="1437829"/>
            <a:ext cx="60275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7F7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Kerala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40556" y="1706017"/>
            <a:ext cx="7862887" cy="338137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640035" y="1779389"/>
            <a:ext cx="60884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Region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3430414" y="1779389"/>
            <a:ext cx="109147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Maharashtra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967189" y="1779389"/>
            <a:ext cx="5564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Kerala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40556" y="2045047"/>
            <a:ext cx="7862887" cy="338137"/>
          </a:xfrm>
          <a:prstGeom prst="rect">
            <a:avLst/>
          </a:prstGeom>
          <a:ln/>
        </p:spPr>
      </p:sp>
      <p:sp>
        <p:nvSpPr>
          <p:cNvPr id="16" name="Text 14"/>
          <p:cNvSpPr/>
          <p:nvPr/>
        </p:nvSpPr>
        <p:spPr>
          <a:xfrm>
            <a:off x="640035" y="2118420"/>
            <a:ext cx="118811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problem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430414" y="2118420"/>
            <a:ext cx="286023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Affordable agricultural technology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5967189" y="2118420"/>
            <a:ext cx="265844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environmental monitoring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40556" y="2384078"/>
            <a:ext cx="7862887" cy="338137"/>
          </a:xfrm>
          <a:prstGeom prst="rect">
            <a:avLst/>
          </a:prstGeom>
          <a:ln/>
        </p:spPr>
      </p:sp>
      <p:sp>
        <p:nvSpPr>
          <p:cNvPr id="20" name="Text 18"/>
          <p:cNvSpPr/>
          <p:nvPr/>
        </p:nvSpPr>
        <p:spPr>
          <a:xfrm>
            <a:off x="640035" y="2457450"/>
            <a:ext cx="124267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E-waste reuse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3430414" y="2457450"/>
            <a:ext cx="207520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Smart farm components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967189" y="2457450"/>
            <a:ext cx="25559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Monitoring-node components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40035" y="2796480"/>
            <a:ext cx="94511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Main users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3430414" y="2796480"/>
            <a:ext cx="117902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 farmers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967189" y="2796480"/>
            <a:ext cx="296258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0242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Coastal communities / local bodies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40556" y="4472248"/>
            <a:ext cx="7862887" cy="361950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27" name="Text 25"/>
          <p:cNvSpPr/>
          <p:nvPr/>
        </p:nvSpPr>
        <p:spPr>
          <a:xfrm>
            <a:off x="822871" y="4563294"/>
            <a:ext cx="84111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1704752" y="4563294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2094681" y="4563294"/>
            <a:ext cx="50756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SORT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2719983" y="4563294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3109913" y="4563294"/>
            <a:ext cx="85514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RECOVER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4002584" y="4563294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4392513" y="4563294"/>
            <a:ext cx="46625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4986040" y="4563294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35" name="Text 33"/>
          <p:cNvSpPr/>
          <p:nvPr/>
        </p:nvSpPr>
        <p:spPr>
          <a:xfrm>
            <a:off x="5375970" y="4563294"/>
            <a:ext cx="58853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REUSE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6063555" y="4563294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6453485" y="4563294"/>
            <a:ext cx="85988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7349803" y="4563294"/>
            <a:ext cx="20158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5F1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endParaRPr lang="en-US" sz="1040" dirty="0"/>
          </a:p>
        </p:txBody>
      </p:sp>
      <p:sp>
        <p:nvSpPr>
          <p:cNvPr id="39" name="Text 37"/>
          <p:cNvSpPr/>
          <p:nvPr/>
        </p:nvSpPr>
        <p:spPr>
          <a:xfrm>
            <a:off x="7739732" y="4563294"/>
            <a:ext cx="81267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RECYCLE</a:t>
            </a:r>
            <a:endParaRPr lang="en-US" sz="104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556" y="1332905"/>
            <a:ext cx="7862887" cy="1724025"/>
          </a:xfrm>
          <a:prstGeom prst="rect">
            <a:avLst/>
          </a:prstGeom>
        </p:spPr>
      </p:pic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556" y="1362075"/>
            <a:ext cx="7862887" cy="342900"/>
          </a:xfrm>
          <a:prstGeom prst="rect">
            <a:avLst/>
          </a:prstGeom>
        </p:spPr>
      </p:pic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556" y="1706017"/>
            <a:ext cx="7862887" cy="338137"/>
          </a:xfrm>
          <a:prstGeom prst="rect">
            <a:avLst/>
          </a:prstGeom>
        </p:spPr>
      </p:pic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556" y="2045047"/>
            <a:ext cx="7862887" cy="338137"/>
          </a:xfrm>
          <a:prstGeom prst="rect">
            <a:avLst/>
          </a:prstGeom>
        </p:spPr>
      </p:pic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0556" y="2384078"/>
            <a:ext cx="7862887" cy="33813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4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35" y="318120"/>
            <a:ext cx="296229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pPr algn="l" indent="0" marL="0">
              <a:buNone/>
            </a:pPr>
            <a:r>
              <a:rPr lang="en-US" sz="970" b="1" spc="194" kern="0" dirty="0">
                <a:solidFill>
                  <a:srgbClr val="D9644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/ REGIONAL INNOVATION</a:t>
            </a:r>
            <a:endParaRPr lang="en-US" sz="970" dirty="0"/>
          </a:p>
        </p:txBody>
      </p:sp>
      <p:sp>
        <p:nvSpPr>
          <p:cNvPr id="4" name="Text 2"/>
          <p:cNvSpPr/>
          <p:nvPr/>
        </p:nvSpPr>
        <p:spPr>
          <a:xfrm>
            <a:off x="6647259" y="318120"/>
            <a:ext cx="247086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0" b="1" spc="194" kern="0" dirty="0">
                <a:solidFill>
                  <a:srgbClr val="68757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NOVEL E-WASTE IDEAS</a:t>
            </a:r>
            <a:endParaRPr lang="en-US" sz="970" dirty="0"/>
          </a:p>
        </p:txBody>
      </p:sp>
      <p:sp>
        <p:nvSpPr>
          <p:cNvPr id="5" name="Text 3"/>
          <p:cNvSpPr/>
          <p:nvPr/>
        </p:nvSpPr>
        <p:spPr>
          <a:xfrm>
            <a:off x="640035" y="693762"/>
            <a:ext cx="9614022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25"/>
              </a:spcBef>
              <a:buNone/>
            </a:pPr>
            <a:r>
              <a:rPr lang="en-US" sz="3020" b="1" spc="-181" kern="0" dirty="0">
                <a:solidFill>
                  <a:srgbClr val="F5F1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E-waste should not always be viewed only as</a:t>
            </a:r>
            <a:endParaRPr lang="en-US" sz="3020" dirty="0"/>
          </a:p>
        </p:txBody>
      </p:sp>
      <p:sp>
        <p:nvSpPr>
          <p:cNvPr id="6" name="Text 4"/>
          <p:cNvSpPr/>
          <p:nvPr/>
        </p:nvSpPr>
        <p:spPr>
          <a:xfrm>
            <a:off x="640035" y="1070074"/>
            <a:ext cx="1464305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020" b="1" spc="-181" kern="0" dirty="0">
                <a:solidFill>
                  <a:srgbClr val="D5E26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waste.</a:t>
            </a:r>
            <a:endParaRPr lang="en-US" sz="3020" dirty="0"/>
          </a:p>
        </p:txBody>
      </p:sp>
      <p:sp>
        <p:nvSpPr>
          <p:cNvPr id="7" name="Text 5"/>
          <p:cNvSpPr/>
          <p:nvPr/>
        </p:nvSpPr>
        <p:spPr>
          <a:xfrm>
            <a:off x="640035" y="1709112"/>
            <a:ext cx="6500210" cy="487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10" dirty="0">
                <a:solidFill>
                  <a:srgbClr val="C7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Suitable components can become resources for solving</a:t>
            </a:r>
            <a:endParaRPr lang="en-US" sz="1510" dirty="0"/>
          </a:p>
          <a:p>
            <a:pPr algn="l" indent="0" marL="0">
              <a:lnSpc>
                <a:spcPts val="1890"/>
              </a:lnSpc>
              <a:buNone/>
            </a:pPr>
            <a:r>
              <a:rPr lang="en-US" sz="1510" dirty="0">
                <a:solidFill>
                  <a:srgbClr val="C7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problems.</a:t>
            </a:r>
            <a:endParaRPr lang="en-US" sz="1510" dirty="0"/>
          </a:p>
        </p:txBody>
      </p:sp>
      <p:sp>
        <p:nvSpPr>
          <p:cNvPr id="8" name="Text 6"/>
          <p:cNvSpPr/>
          <p:nvPr/>
        </p:nvSpPr>
        <p:spPr>
          <a:xfrm>
            <a:off x="640035" y="2558728"/>
            <a:ext cx="187534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150" kern="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SAFETY BOUNDARY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640035" y="2789113"/>
            <a:ext cx="4819769" cy="56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6"/>
              </a:lnSpc>
              <a:buNone/>
            </a:pPr>
            <a:r>
              <a:rPr lang="en-US" sz="1120" dirty="0">
                <a:solidFill>
                  <a:srgbClr val="B5B8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Damaged batteries, hazardous components, burnt PCBs</a:t>
            </a:r>
            <a:endParaRPr lang="en-US" sz="1120" dirty="0"/>
          </a:p>
          <a:p>
            <a:pPr algn="l" indent="0" marL="0">
              <a:lnSpc>
                <a:spcPts val="1506"/>
              </a:lnSpc>
              <a:buNone/>
            </a:pPr>
            <a:r>
              <a:rPr lang="en-US" sz="1120" dirty="0">
                <a:solidFill>
                  <a:srgbClr val="B5B8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 unsafe power supplies must go to authorized</a:t>
            </a:r>
            <a:endParaRPr lang="en-US" sz="1120" dirty="0"/>
          </a:p>
          <a:p>
            <a:pPr algn="l" indent="0" marL="0">
              <a:lnSpc>
                <a:spcPts val="1506"/>
              </a:lnSpc>
              <a:buNone/>
            </a:pPr>
            <a:r>
              <a:rPr lang="en-US" sz="1120" dirty="0">
                <a:solidFill>
                  <a:srgbClr val="B5B8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e-waste recyclers.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4754835" y="2558728"/>
            <a:ext cx="193822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spc="150" kern="0" dirty="0">
                <a:solidFill>
                  <a:srgbClr val="E5B94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LONG-TERM VISION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4754835" y="2789113"/>
            <a:ext cx="4332111" cy="56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6"/>
              </a:lnSpc>
              <a:buNone/>
            </a:pPr>
            <a:r>
              <a:rPr lang="en-US" sz="1120" dirty="0">
                <a:solidFill>
                  <a:srgbClr val="B5B8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AI-based systems · solar-powered IoT · LoRa</a:t>
            </a:r>
            <a:endParaRPr lang="en-US" sz="1120" dirty="0"/>
          </a:p>
          <a:p>
            <a:pPr algn="l" indent="0" marL="0">
              <a:lnSpc>
                <a:spcPts val="1506"/>
              </a:lnSpc>
              <a:buNone/>
            </a:pPr>
            <a:r>
              <a:rPr lang="en-US" sz="1120" dirty="0">
                <a:solidFill>
                  <a:srgbClr val="B5B8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communication · mobile apps · cloud dashboards ·</a:t>
            </a:r>
            <a:endParaRPr lang="en-US" sz="1120" dirty="0"/>
          </a:p>
          <a:p>
            <a:pPr algn="l" indent="0" marL="0">
              <a:lnSpc>
                <a:spcPts val="1506"/>
              </a:lnSpc>
              <a:buNone/>
            </a:pPr>
            <a:r>
              <a:rPr lang="en-US" sz="1120" dirty="0">
                <a:solidFill>
                  <a:srgbClr val="B5B8B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predictive analytics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640035" y="4523408"/>
            <a:ext cx="536508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D5E2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Electronic Waste to Regional Innovation.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45BCADE012848BADD84F0F5519C36" ma:contentTypeVersion="13" ma:contentTypeDescription="Create a new document." ma:contentTypeScope="" ma:versionID="749d6923f222eb45ac0dc6063575a178">
  <xsd:schema xmlns:xsd="http://www.w3.org/2001/XMLSchema" xmlns:xs="http://www.w3.org/2001/XMLSchema" xmlns:p="http://schemas.microsoft.com/office/2006/metadata/properties" xmlns:ns2="c49d017b-ac22-4c0b-a7a4-c8b9eca6cd70" xmlns:ns3="e0d206d7-ee7c-42da-b133-6e7342787b39" targetNamespace="http://schemas.microsoft.com/office/2006/metadata/properties" ma:root="true" ma:fieldsID="e99e7a50f06ef0e0bf1d9a36c1212498" ns2:_="" ns3:_="">
    <xsd:import namespace="c49d017b-ac22-4c0b-a7a4-c8b9eca6cd70"/>
    <xsd:import namespace="e0d206d7-ee7c-42da-b133-6e7342787b3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d017b-ac22-4c0b-a7a4-c8b9eca6cd7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206d7-ee7c-42da-b133-6e7342787b3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5d6c0a8-0dd6-40f9-b8c8-aca075772b73}" ma:internalName="TaxCatchAll" ma:showField="CatchAllData" ma:web="e0d206d7-ee7c-42da-b133-6e7342787b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d017b-ac22-4c0b-a7a4-c8b9eca6cd70">
      <Terms xmlns="http://schemas.microsoft.com/office/infopath/2007/PartnerControls"/>
    </lcf76f155ced4ddcb4097134ff3c332f>
    <TaxCatchAll xmlns="e0d206d7-ee7c-42da-b133-6e7342787b39" xsi:nil="true"/>
    <ReferenceId xmlns="c49d017b-ac22-4c0b-a7a4-c8b9eca6cd70" xsi:nil="true"/>
  </documentManagement>
</p:properties>
</file>

<file path=customXml/itemProps1.xml><?xml version="1.0" encoding="utf-8"?>
<ds:datastoreItem xmlns:ds="http://schemas.openxmlformats.org/officeDocument/2006/customXml" ds:itemID="{9FB4F825-4BD0-4EB9-A86F-EC80B0F03B91}"/>
</file>

<file path=customXml/itemProps2.xml><?xml version="1.0" encoding="utf-8"?>
<ds:datastoreItem xmlns:ds="http://schemas.openxmlformats.org/officeDocument/2006/customXml" ds:itemID="{1B9D8A54-54E5-4947-A0D8-CF5A966F6AD0}"/>
</file>

<file path=customXml/itemProps3.xml><?xml version="1.0" encoding="utf-8"?>
<ds:datastoreItem xmlns:ds="http://schemas.openxmlformats.org/officeDocument/2006/customXml" ds:itemID="{67A6EAB0-8735-498B-8E71-33973A3B74E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2026-08-21T14:35:12Z</dcterms:created>
  <dcterms:modified xsi:type="dcterms:W3CDTF">2026-08-21T14:35:12Z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0x01010029E45BCADE012848BADD84F0F5519C36</vt:lpwstr>
  </property>
</Properties>
</file>