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drawings/drawing1.xml" ContentType="application/vnd.openxmlformats-officedocument.drawingml.chartshape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drawings/drawing3.xml" ContentType="application/vnd.openxmlformats-officedocument.drawingml.chartshapes+xml"/>
  <Override PartName="/ppt/drawings/drawing2.xml" ContentType="application/vnd.openxmlformats-officedocument.drawingml.chartshapes+xml"/>
  <Override PartName="/ppt/slides/slide1.xml" ContentType="application/vnd.openxmlformats-officedocument.presentationml.slide+xml"/>
  <Override PartName="/ppt/presentation.xml" ContentType="application/vnd.openxmlformats-officedocument.presentationml.presentation.main+xml"/>
  <Override PartName="/ppt/notesSlides/notesSlide1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Slides/notesSlide2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8.xml" ContentType="application/vnd.openxmlformats-officedocument.drawingml.chart+xml"/>
  <Override PartName="/ppt/theme/theme2.xml" ContentType="application/vnd.openxmlformats-officedocument.theme+xml"/>
  <Override PartName="/ppt/charts/chart7.xml" ContentType="application/vnd.openxmlformats-officedocument.drawingml.char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charts/chart6.xml" ContentType="application/vnd.openxmlformats-officedocument.drawingml.chart+xml"/>
  <Override PartName="/ppt/charts/chart1.xml" ContentType="application/vnd.openxmlformats-officedocument.drawingml.chart+xml"/>
  <Override PartName="/ppt/charts/chart5.xml" ContentType="application/vnd.openxmlformats-officedocument.drawingml.chart+xml"/>
  <Override PartName="/ppt/charts/chart4.xml" ContentType="application/vnd.openxmlformats-officedocument.drawingml.chart+xml"/>
  <Override PartName="/ppt/charts/chart3.xml" ContentType="application/vnd.openxmlformats-officedocument.drawingml.chart+xml"/>
  <Override PartName="/ppt/charts/chart9.xml" ContentType="application/vnd.openxmlformats-officedocument.drawingml.chart+xml"/>
  <Override PartName="/ppt/charts/chart2.xml" ContentType="application/vnd.openxmlformats-officedocument.drawingml.chart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>
      <p:cViewPr varScale="1">
        <p:scale>
          <a:sx n="152" d="100"/>
          <a:sy n="152" d="100"/>
        </p:scale>
        <p:origin x="792" y="96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openxmlformats.org/officeDocument/2006/relationships/customXml" Target="../customXml/item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 /></Relationships>
</file>

<file path=ppt/charts/_rels/chart2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 /><Relationship Id="rId1" Type="http://schemas.openxmlformats.org/officeDocument/2006/relationships/package" Target="../embeddings/Microsoft_Excel_Worksheet2.xlsx" /></Relationships>
</file>

<file path=ppt/charts/_rels/chart3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2.xml" /><Relationship Id="rId1" Type="http://schemas.openxmlformats.org/officeDocument/2006/relationships/package" Target="../embeddings/Microsoft_Excel_Worksheet3.xlsx" 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 /></Relationships>
</file>

<file path=ppt/charts/_rels/chart5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3.xml" /><Relationship Id="rId1" Type="http://schemas.openxmlformats.org/officeDocument/2006/relationships/package" Target="../embeddings/Microsoft_Excel_Worksheet5.xlsx" 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 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 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 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 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/>
            </a:pPr>
            <a:r>
              <a:rPr lang="zh-CN" altLang="en-US" sz="1000">
                <a:solidFill>
                  <a:srgbClr val="000000"/>
                </a:solidFill>
                <a:latin typeface="Verdana"/>
                <a:ea typeface="Verdana"/>
              </a:rPr>
              <a:t>Bengaluru Urban dominates total generation, far ahead of other districts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v>Share of Total Generated</c:v>
          </c:tx>
          <c:spPr>
            <a:solidFill>
              <a:srgbClr val="4765FF"/>
            </a:solidFill>
            <a:ln>
              <a:noFill/>
            </a:ln>
          </c:spPr>
          <c:invertIfNegative val="0"/>
          <c:dPt>
            <c:idx val="1"/>
            <c:invertIfNegative val="1"/>
            <c:bubble3D val="0"/>
            <c:spPr>
              <a:solidFill>
                <a:srgbClr val="D9D9D9"/>
              </a:solidFill>
              <a:ln>
                <a:noFill/>
              </a:ln>
            </c:spPr>
          </c:dPt>
          <c:dPt>
            <c:idx val="2"/>
            <c:invertIfNegative val="1"/>
            <c:bubble3D val="0"/>
            <c:spPr>
              <a:solidFill>
                <a:srgbClr val="D9D9D9"/>
              </a:solidFill>
              <a:ln>
                <a:noFill/>
              </a:ln>
            </c:spPr>
          </c:dPt>
          <c:dPt>
            <c:idx val="3"/>
            <c:invertIfNegative val="1"/>
            <c:bubble3D val="0"/>
            <c:spPr>
              <a:solidFill>
                <a:srgbClr val="D9D9D9"/>
              </a:solidFill>
              <a:ln>
                <a:noFill/>
              </a:ln>
            </c:spPr>
          </c:dPt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00" b="0" i="0" u="none" strike="noStrike">
                    <a:solidFill>
                      <a:srgbClr val="000000"/>
                    </a:solidFill>
                    <a:latin typeface="Verdana"/>
                    <a:ea typeface="Verdana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Bengaluru Urban</c:v>
                </c:pt>
                <c:pt idx="1">
                  <c:v>Belagavi</c:v>
                </c:pt>
                <c:pt idx="2">
                  <c:v>Mysuru</c:v>
                </c:pt>
                <c:pt idx="3">
                  <c:v>Tumakuru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27.9</c:v>
                </c:pt>
                <c:pt idx="1">
                  <c:v>13.9</c:v>
                </c:pt>
                <c:pt idx="2">
                  <c:v>8.6999999999999993</c:v>
                </c:pt>
                <c:pt idx="3">
                  <c:v>7.8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362-BC4E-A0D3-1E129BBB2A8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-40"/>
        <c:axId val="123456"/>
        <c:axId val="654321"/>
      </c:barChart>
      <c:catAx>
        <c:axId val="12345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low"/>
        <c:spPr>
          <a:ln w="6350" cap="flat">
            <a:solidFill>
              <a:srgbClr val="D1D5DB"/>
            </a:solidFill>
            <a:prstDash val="dash"/>
          </a:ln>
        </c:spPr>
        <c:txPr>
          <a:bodyPr rot="0" vert="horz"/>
          <a:lstStyle/>
          <a:p>
            <a:pPr>
              <a:defRPr sz="600" b="0" i="0" u="none" strike="noStrike">
                <a:solidFill>
                  <a:srgbClr val="000000"/>
                </a:solidFill>
                <a:latin typeface="Verdana"/>
                <a:ea typeface="Verdana"/>
              </a:defRPr>
            </a:pPr>
            <a:endParaRPr lang="en-US"/>
          </a:p>
        </c:txPr>
        <c:crossAx val="654321"/>
        <c:crosses val="autoZero"/>
        <c:auto val="1"/>
        <c:lblAlgn val="ctr"/>
        <c:lblOffset val="100"/>
        <c:noMultiLvlLbl val="1"/>
      </c:catAx>
      <c:valAx>
        <c:axId val="654321"/>
        <c:scaling>
          <c:orientation val="minMax"/>
          <c:max val="30"/>
          <c:min val="0"/>
        </c:scaling>
        <c:delete val="0"/>
        <c:axPos val="b"/>
        <c:majorGridlines>
          <c:spPr>
            <a:ln w="6350" cap="flat">
              <a:solidFill>
                <a:srgbClr val="D1D5DB"/>
              </a:solidFill>
              <a:prstDash val="dash"/>
            </a:ln>
          </c:spPr>
        </c:majorGridlines>
        <c:numFmt formatCode="General" sourceLinked="0"/>
        <c:majorTickMark val="none"/>
        <c:minorTickMark val="none"/>
        <c:tickLblPos val="nextTo"/>
        <c:spPr>
          <a:ln w="6350" cap="flat">
            <a:solidFill>
              <a:srgbClr val="D1D5DB"/>
            </a:solidFill>
            <a:prstDash val="dash"/>
          </a:ln>
        </c:spPr>
        <c:txPr>
          <a:bodyPr rot="0" vert="horz"/>
          <a:lstStyle/>
          <a:p>
            <a:pPr>
              <a:defRPr sz="600" b="0" i="0" u="none" strike="noStrike">
                <a:solidFill>
                  <a:srgbClr val="000000"/>
                </a:solidFill>
                <a:latin typeface="Verdana"/>
                <a:ea typeface="Verdana"/>
              </a:defRPr>
            </a:pPr>
            <a:endParaRPr lang="en-US"/>
          </a:p>
        </c:txPr>
        <c:crossAx val="123456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600">
              <a:latin typeface="Verdana"/>
              <a:ea typeface="Verdana"/>
            </a:defRPr>
          </a:pPr>
          <a:endParaRPr lang="en-US"/>
        </a:p>
      </c:txPr>
    </c:legend>
    <c:plotVisOnly val="1"/>
    <c:dispBlanksAs val="zero"/>
    <c:showDLblsOverMax val="1"/>
  </c:chart>
  <c:spPr>
    <a:solidFill>
      <a:srgbClr val="FAFAFA"/>
    </a:solidFill>
    <a:ln>
      <a:noFill/>
    </a:ln>
    <a:effectLst/>
  </c:spPr>
  <c:txPr>
    <a:bodyPr/>
    <a:lstStyle/>
    <a:p>
      <a:pPr>
        <a:defRPr>
          <a:latin typeface="Verdana"/>
          <a:ea typeface="Verdana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/>
            </a:pPr>
            <a:r>
              <a:rPr lang="zh-CN" altLang="en-US" sz="1000">
                <a:solidFill>
                  <a:srgbClr val="000000"/>
                </a:solidFill>
                <a:latin typeface="Verdana"/>
                <a:ea typeface="Verdana"/>
              </a:rPr>
              <a:t>Collection rates are flat across districts, indicating no regional variation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v>Collection Rate</c:v>
          </c:tx>
          <c:spPr>
            <a:solidFill>
              <a:srgbClr val="4765FF"/>
            </a:solidFill>
            <a:ln>
              <a:noFill/>
            </a:ln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00" b="0" i="0" u="none" strike="noStrike">
                    <a:solidFill>
                      <a:srgbClr val="000000"/>
                    </a:solidFill>
                    <a:latin typeface="Verdana"/>
                    <a:ea typeface="Verdana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Mysuru</c:v>
                </c:pt>
                <c:pt idx="1">
                  <c:v>Dharwad</c:v>
                </c:pt>
                <c:pt idx="2">
                  <c:v>Kolar</c:v>
                </c:pt>
                <c:pt idx="3">
                  <c:v>Ballari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65</c:v>
                </c:pt>
                <c:pt idx="1">
                  <c:v>65</c:v>
                </c:pt>
                <c:pt idx="2">
                  <c:v>65</c:v>
                </c:pt>
                <c:pt idx="3">
                  <c:v>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7ED-2F41-96F9-EB7ABC84E73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-40"/>
        <c:axId val="123456"/>
        <c:axId val="654321"/>
      </c:barChart>
      <c:catAx>
        <c:axId val="12345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low"/>
        <c:spPr>
          <a:ln w="6350" cap="flat">
            <a:solidFill>
              <a:srgbClr val="D1D5DB"/>
            </a:solidFill>
            <a:prstDash val="dash"/>
          </a:ln>
        </c:spPr>
        <c:txPr>
          <a:bodyPr rot="0" vert="horz"/>
          <a:lstStyle/>
          <a:p>
            <a:pPr>
              <a:defRPr sz="600" b="0" i="0" u="none" strike="noStrike">
                <a:solidFill>
                  <a:srgbClr val="000000"/>
                </a:solidFill>
                <a:latin typeface="Verdana"/>
                <a:ea typeface="Verdana"/>
              </a:defRPr>
            </a:pPr>
            <a:endParaRPr lang="en-US"/>
          </a:p>
        </c:txPr>
        <c:crossAx val="654321"/>
        <c:crosses val="autoZero"/>
        <c:auto val="1"/>
        <c:lblAlgn val="ctr"/>
        <c:lblOffset val="100"/>
        <c:noMultiLvlLbl val="1"/>
      </c:catAx>
      <c:valAx>
        <c:axId val="654321"/>
        <c:scaling>
          <c:orientation val="minMax"/>
          <c:max val="80"/>
          <c:min val="0"/>
        </c:scaling>
        <c:delete val="0"/>
        <c:axPos val="b"/>
        <c:majorGridlines>
          <c:spPr>
            <a:ln w="6350" cap="flat">
              <a:solidFill>
                <a:srgbClr val="D1D5DB"/>
              </a:solidFill>
              <a:prstDash val="dash"/>
            </a:ln>
          </c:spPr>
        </c:majorGridlines>
        <c:numFmt formatCode="General" sourceLinked="0"/>
        <c:majorTickMark val="none"/>
        <c:minorTickMark val="none"/>
        <c:tickLblPos val="nextTo"/>
        <c:spPr>
          <a:ln w="6350" cap="flat">
            <a:solidFill>
              <a:srgbClr val="D1D5DB"/>
            </a:solidFill>
            <a:prstDash val="dash"/>
          </a:ln>
        </c:spPr>
        <c:txPr>
          <a:bodyPr rot="0" vert="horz"/>
          <a:lstStyle/>
          <a:p>
            <a:pPr>
              <a:defRPr sz="600" b="0" i="0" u="none" strike="noStrike">
                <a:solidFill>
                  <a:srgbClr val="000000"/>
                </a:solidFill>
                <a:latin typeface="Verdana"/>
                <a:ea typeface="Verdana"/>
              </a:defRPr>
            </a:pPr>
            <a:endParaRPr lang="en-US"/>
          </a:p>
        </c:txPr>
        <c:crossAx val="123456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600">
              <a:latin typeface="Verdana"/>
              <a:ea typeface="Verdana"/>
            </a:defRPr>
          </a:pPr>
          <a:endParaRPr lang="en-US"/>
        </a:p>
      </c:txPr>
    </c:legend>
    <c:plotVisOnly val="1"/>
    <c:dispBlanksAs val="zero"/>
    <c:showDLblsOverMax val="1"/>
  </c:chart>
  <c:spPr>
    <a:solidFill>
      <a:srgbClr val="FAFAFA"/>
    </a:solidFill>
    <a:ln>
      <a:noFill/>
    </a:ln>
    <a:effectLst/>
  </c:spPr>
  <c:txPr>
    <a:bodyPr/>
    <a:lstStyle/>
    <a:p>
      <a:pPr>
        <a:defRPr>
          <a:latin typeface="Verdana"/>
          <a:ea typeface="Verdana"/>
        </a:defRPr>
      </a:pPr>
      <a:endParaRPr lang="en-US"/>
    </a:p>
  </c:txPr>
  <c:externalData r:id="rId1">
    <c:autoUpdate val="0"/>
  </c:externalData>
  <c:userShapes r:id="rId2"/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/>
            </a:pPr>
            <a:r>
              <a:rPr lang="zh-CN" altLang="en-US" sz="1000">
                <a:solidFill>
                  <a:srgbClr val="000000"/>
                </a:solidFill>
                <a:latin typeface="Verdana"/>
                <a:ea typeface="Verdana"/>
              </a:rPr>
              <a:t>EPR achievement is effectively uniform across districts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v>EPR Achievement Rate</c:v>
          </c:tx>
          <c:spPr>
            <a:solidFill>
              <a:srgbClr val="4765FF"/>
            </a:solidFill>
            <a:ln>
              <a:noFill/>
            </a:ln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00" b="0" i="0" u="none" strike="noStrike">
                    <a:solidFill>
                      <a:srgbClr val="000000"/>
                    </a:solidFill>
                    <a:latin typeface="Verdana"/>
                    <a:ea typeface="Verdana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Mandya</c:v>
                </c:pt>
                <c:pt idx="1">
                  <c:v>Bengaluru Urban</c:v>
                </c:pt>
                <c:pt idx="2">
                  <c:v>Belagavi</c:v>
                </c:pt>
                <c:pt idx="3">
                  <c:v>Kolar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91.66</c:v>
                </c:pt>
                <c:pt idx="1">
                  <c:v>91.67</c:v>
                </c:pt>
                <c:pt idx="2">
                  <c:v>91.67</c:v>
                </c:pt>
                <c:pt idx="3">
                  <c:v>91.67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B73-C44D-A102-FB00D16A8E7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-40"/>
        <c:axId val="123456"/>
        <c:axId val="654321"/>
      </c:barChart>
      <c:catAx>
        <c:axId val="12345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low"/>
        <c:spPr>
          <a:ln w="6350" cap="flat">
            <a:solidFill>
              <a:srgbClr val="D1D5DB"/>
            </a:solidFill>
            <a:prstDash val="dash"/>
          </a:ln>
        </c:spPr>
        <c:txPr>
          <a:bodyPr rot="0" vert="horz"/>
          <a:lstStyle/>
          <a:p>
            <a:pPr>
              <a:defRPr sz="600" b="0" i="0" u="none" strike="noStrike">
                <a:solidFill>
                  <a:srgbClr val="000000"/>
                </a:solidFill>
                <a:latin typeface="Verdana"/>
                <a:ea typeface="Verdana"/>
              </a:defRPr>
            </a:pPr>
            <a:endParaRPr lang="en-US"/>
          </a:p>
        </c:txPr>
        <c:crossAx val="654321"/>
        <c:crosses val="autoZero"/>
        <c:auto val="1"/>
        <c:lblAlgn val="ctr"/>
        <c:lblOffset val="100"/>
        <c:noMultiLvlLbl val="1"/>
      </c:catAx>
      <c:valAx>
        <c:axId val="654321"/>
        <c:scaling>
          <c:orientation val="minMax"/>
          <c:max val="100"/>
          <c:min val="0"/>
        </c:scaling>
        <c:delete val="0"/>
        <c:axPos val="b"/>
        <c:majorGridlines>
          <c:spPr>
            <a:ln w="6350" cap="flat">
              <a:solidFill>
                <a:srgbClr val="D1D5DB"/>
              </a:solidFill>
              <a:prstDash val="dash"/>
            </a:ln>
          </c:spPr>
        </c:majorGridlines>
        <c:numFmt formatCode="General" sourceLinked="0"/>
        <c:majorTickMark val="none"/>
        <c:minorTickMark val="none"/>
        <c:tickLblPos val="nextTo"/>
        <c:spPr>
          <a:ln w="6350" cap="flat">
            <a:solidFill>
              <a:srgbClr val="D1D5DB"/>
            </a:solidFill>
            <a:prstDash val="dash"/>
          </a:ln>
        </c:spPr>
        <c:txPr>
          <a:bodyPr rot="0" vert="horz"/>
          <a:lstStyle/>
          <a:p>
            <a:pPr>
              <a:defRPr sz="600" b="0" i="0" u="none" strike="noStrike">
                <a:solidFill>
                  <a:srgbClr val="000000"/>
                </a:solidFill>
                <a:latin typeface="Verdana"/>
                <a:ea typeface="Verdana"/>
              </a:defRPr>
            </a:pPr>
            <a:endParaRPr lang="en-US"/>
          </a:p>
        </c:txPr>
        <c:crossAx val="123456"/>
        <c:crosses val="autoZero"/>
        <c:crossBetween val="between"/>
        <c:majorUnit val="50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600">
              <a:latin typeface="Verdana"/>
              <a:ea typeface="Verdana"/>
            </a:defRPr>
          </a:pPr>
          <a:endParaRPr lang="en-US"/>
        </a:p>
      </c:txPr>
    </c:legend>
    <c:plotVisOnly val="1"/>
    <c:dispBlanksAs val="zero"/>
    <c:showDLblsOverMax val="1"/>
  </c:chart>
  <c:spPr>
    <a:solidFill>
      <a:srgbClr val="FAFAFA"/>
    </a:solidFill>
    <a:ln>
      <a:noFill/>
    </a:ln>
    <a:effectLst/>
  </c:spPr>
  <c:txPr>
    <a:bodyPr/>
    <a:lstStyle/>
    <a:p>
      <a:pPr>
        <a:defRPr>
          <a:latin typeface="Verdana"/>
          <a:ea typeface="Verdana"/>
        </a:defRPr>
      </a:pPr>
      <a:endParaRPr lang="en-US"/>
    </a:p>
  </c:txPr>
  <c:externalData r:id="rId1">
    <c:autoUpdate val="0"/>
  </c:externalData>
  <c:userShapes r:id="rId2"/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/>
            </a:pPr>
            <a:r>
              <a:rPr lang="zh-CN" altLang="en-US" sz="1000">
                <a:solidFill>
                  <a:srgbClr val="000000"/>
                </a:solidFill>
                <a:latin typeface="Verdana"/>
                <a:ea typeface="Verdana"/>
              </a:rPr>
              <a:t>Kolar dominates installed capacity, far ahead of both Bengaluru districts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v>Total Installed Capacity (tonnes/yr)</c:v>
          </c:tx>
          <c:spPr>
            <a:solidFill>
              <a:srgbClr val="4765FF"/>
            </a:solidFill>
            <a:ln>
              <a:noFill/>
            </a:ln>
          </c:spPr>
          <c:invertIfNegative val="0"/>
          <c:dPt>
            <c:idx val="1"/>
            <c:invertIfNegative val="1"/>
            <c:bubble3D val="0"/>
            <c:spPr>
              <a:solidFill>
                <a:srgbClr val="D9D9D9"/>
              </a:solidFill>
              <a:ln>
                <a:noFill/>
              </a:ln>
            </c:spPr>
          </c:dPt>
          <c:dPt>
            <c:idx val="2"/>
            <c:invertIfNegative val="1"/>
            <c:bubble3D val="0"/>
            <c:spPr>
              <a:solidFill>
                <a:srgbClr val="D9D9D9"/>
              </a:solidFill>
              <a:ln>
                <a:noFill/>
              </a:ln>
            </c:spPr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00" b="0" i="0" u="none" strike="noStrike">
                    <a:solidFill>
                      <a:srgbClr val="000000"/>
                    </a:solidFill>
                    <a:latin typeface="Verdana"/>
                    <a:ea typeface="Verdana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Kolar</c:v>
                </c:pt>
                <c:pt idx="1">
                  <c:v>Bengaluru Urban</c:v>
                </c:pt>
                <c:pt idx="2">
                  <c:v>Bengaluru Rural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96000</c:v>
                </c:pt>
                <c:pt idx="1">
                  <c:v>25900</c:v>
                </c:pt>
                <c:pt idx="2">
                  <c:v>15000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06B-C14E-9AB4-2EDF042EFB8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-40"/>
        <c:axId val="123456"/>
        <c:axId val="654321"/>
      </c:barChart>
      <c:catAx>
        <c:axId val="12345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low"/>
        <c:spPr>
          <a:ln w="6350" cap="flat">
            <a:solidFill>
              <a:srgbClr val="D1D5DB"/>
            </a:solidFill>
            <a:prstDash val="dash"/>
          </a:ln>
        </c:spPr>
        <c:txPr>
          <a:bodyPr rot="0" vert="horz"/>
          <a:lstStyle/>
          <a:p>
            <a:pPr>
              <a:defRPr sz="600" b="0" i="0" u="none" strike="noStrike">
                <a:solidFill>
                  <a:srgbClr val="000000"/>
                </a:solidFill>
                <a:latin typeface="Verdana"/>
                <a:ea typeface="Verdana"/>
              </a:defRPr>
            </a:pPr>
            <a:endParaRPr lang="en-US"/>
          </a:p>
        </c:txPr>
        <c:crossAx val="654321"/>
        <c:crosses val="autoZero"/>
        <c:auto val="1"/>
        <c:lblAlgn val="ctr"/>
        <c:lblOffset val="100"/>
        <c:noMultiLvlLbl val="1"/>
      </c:catAx>
      <c:valAx>
        <c:axId val="654321"/>
        <c:scaling>
          <c:orientation val="minMax"/>
          <c:max val="100000"/>
          <c:min val="0"/>
        </c:scaling>
        <c:delete val="0"/>
        <c:axPos val="b"/>
        <c:majorGridlines>
          <c:spPr>
            <a:ln w="6350" cap="flat">
              <a:solidFill>
                <a:srgbClr val="D1D5DB"/>
              </a:solidFill>
              <a:prstDash val="dash"/>
            </a:ln>
          </c:spPr>
        </c:majorGridlines>
        <c:numFmt formatCode="0.00" sourceLinked="0"/>
        <c:majorTickMark val="none"/>
        <c:minorTickMark val="none"/>
        <c:tickLblPos val="nextTo"/>
        <c:spPr>
          <a:ln w="6350" cap="flat">
            <a:solidFill>
              <a:srgbClr val="D1D5DB"/>
            </a:solidFill>
            <a:prstDash val="dash"/>
          </a:ln>
        </c:spPr>
        <c:txPr>
          <a:bodyPr rot="0" vert="horz"/>
          <a:lstStyle/>
          <a:p>
            <a:pPr>
              <a:defRPr sz="600" b="0" i="0" u="none" strike="noStrike">
                <a:solidFill>
                  <a:srgbClr val="000000"/>
                </a:solidFill>
                <a:latin typeface="Verdana"/>
                <a:ea typeface="Verdana"/>
              </a:defRPr>
            </a:pPr>
            <a:endParaRPr lang="en-US"/>
          </a:p>
        </c:txPr>
        <c:crossAx val="123456"/>
        <c:crosses val="autoZero"/>
        <c:crossBetween val="between"/>
        <c:majorUnit val="50000"/>
        <c:dispUnits>
          <c:builtInUnit val="thousands"/>
          <c:dispUnitsLbl>
            <c:tx>
              <c:rich>
                <a:bodyPr rot="0" vert="horz"/>
                <a:lstStyle/>
                <a:p>
                  <a:r>
                    <a:rPr lang="en-US" sz="600">
                      <a:solidFill>
                        <a:srgbClr val="000000"/>
                      </a:solidFill>
                      <a:latin typeface="Verdana"/>
                      <a:ea typeface="Verdana"/>
                    </a:rPr>
                    <a:t>K</a:t>
                  </a:r>
                </a:p>
              </c:rich>
            </c:tx>
          </c:dispUnitsLbl>
        </c:dispUnits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600">
              <a:latin typeface="Verdana"/>
              <a:ea typeface="Verdana"/>
            </a:defRPr>
          </a:pPr>
          <a:endParaRPr lang="en-US"/>
        </a:p>
      </c:txPr>
    </c:legend>
    <c:plotVisOnly val="1"/>
    <c:dispBlanksAs val="zero"/>
    <c:showDLblsOverMax val="1"/>
  </c:chart>
  <c:spPr>
    <a:solidFill>
      <a:srgbClr val="FAFAFA"/>
    </a:solidFill>
    <a:ln>
      <a:noFill/>
    </a:ln>
    <a:effectLst/>
  </c:spPr>
  <c:txPr>
    <a:bodyPr/>
    <a:lstStyle/>
    <a:p>
      <a:pPr>
        <a:defRPr>
          <a:latin typeface="Verdana"/>
          <a:ea typeface="Verdana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/>
            </a:pPr>
            <a:r>
              <a:rPr lang="zh-CN" altLang="en-US" sz="1000">
                <a:solidFill>
                  <a:srgbClr val="000000"/>
                </a:solidFill>
                <a:latin typeface="Verdana"/>
                <a:ea typeface="Verdana"/>
              </a:rPr>
              <a:t>Utilization is concentrated in one recycler while peers remain underused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v>Capacity Utilization</c:v>
          </c:tx>
          <c:spPr>
            <a:solidFill>
              <a:srgbClr val="4765FF"/>
            </a:solidFill>
            <a:ln>
              <a:noFill/>
            </a:ln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00" b="0" i="0" u="none" strike="noStrike">
                    <a:solidFill>
                      <a:srgbClr val="000000"/>
                    </a:solidFill>
                    <a:latin typeface="Verdana"/>
                    <a:ea typeface="Verdana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Attero Recycling Pvt. Ltd. (new Bengaluru plant)</c:v>
                </c:pt>
                <c:pt idx="1">
                  <c:v>Cerebra Integrated Technologies Ltd.</c:v>
                </c:pt>
                <c:pt idx="2">
                  <c:v>E-Parisaraa Pvt. Ltd.</c:v>
                </c:pt>
                <c:pt idx="3">
                  <c:v>Trishyiraya Recycling India Pvt. Ltd.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13.5</c:v>
                </c:pt>
                <c:pt idx="2">
                  <c:v>16.7</c:v>
                </c:pt>
                <c:pt idx="3">
                  <c:v>72.2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C1B-684C-8386-67829111C67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-40"/>
        <c:axId val="123456"/>
        <c:axId val="654321"/>
      </c:barChart>
      <c:catAx>
        <c:axId val="12345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low"/>
        <c:spPr>
          <a:ln w="6350" cap="flat">
            <a:solidFill>
              <a:srgbClr val="D1D5DB"/>
            </a:solidFill>
            <a:prstDash val="dash"/>
          </a:ln>
        </c:spPr>
        <c:txPr>
          <a:bodyPr rot="0" vert="horz"/>
          <a:lstStyle/>
          <a:p>
            <a:pPr>
              <a:defRPr sz="600" b="0" i="0" u="none" strike="noStrike">
                <a:solidFill>
                  <a:srgbClr val="000000"/>
                </a:solidFill>
                <a:latin typeface="Verdana"/>
                <a:ea typeface="Verdana"/>
              </a:defRPr>
            </a:pPr>
            <a:endParaRPr lang="en-US"/>
          </a:p>
        </c:txPr>
        <c:crossAx val="654321"/>
        <c:crosses val="autoZero"/>
        <c:auto val="1"/>
        <c:lblAlgn val="ctr"/>
        <c:lblOffset val="100"/>
        <c:noMultiLvlLbl val="1"/>
      </c:catAx>
      <c:valAx>
        <c:axId val="654321"/>
        <c:scaling>
          <c:orientation val="minMax"/>
          <c:max val="80"/>
          <c:min val="0"/>
        </c:scaling>
        <c:delete val="0"/>
        <c:axPos val="b"/>
        <c:majorGridlines>
          <c:spPr>
            <a:ln w="6350" cap="flat">
              <a:solidFill>
                <a:srgbClr val="D1D5DB"/>
              </a:solidFill>
              <a:prstDash val="dash"/>
            </a:ln>
          </c:spPr>
        </c:majorGridlines>
        <c:numFmt formatCode="General" sourceLinked="0"/>
        <c:majorTickMark val="none"/>
        <c:minorTickMark val="none"/>
        <c:tickLblPos val="nextTo"/>
        <c:spPr>
          <a:ln w="6350" cap="flat">
            <a:solidFill>
              <a:srgbClr val="D1D5DB"/>
            </a:solidFill>
            <a:prstDash val="dash"/>
          </a:ln>
        </c:spPr>
        <c:txPr>
          <a:bodyPr rot="0" vert="horz"/>
          <a:lstStyle/>
          <a:p>
            <a:pPr>
              <a:defRPr sz="600" b="0" i="0" u="none" strike="noStrike">
                <a:solidFill>
                  <a:srgbClr val="000000"/>
                </a:solidFill>
                <a:latin typeface="Verdana"/>
                <a:ea typeface="Verdana"/>
              </a:defRPr>
            </a:pPr>
            <a:endParaRPr lang="en-US"/>
          </a:p>
        </c:txPr>
        <c:crossAx val="123456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600">
              <a:latin typeface="Verdana"/>
              <a:ea typeface="Verdana"/>
            </a:defRPr>
          </a:pPr>
          <a:endParaRPr lang="en-US"/>
        </a:p>
      </c:txPr>
    </c:legend>
    <c:plotVisOnly val="1"/>
    <c:dispBlanksAs val="zero"/>
    <c:showDLblsOverMax val="1"/>
  </c:chart>
  <c:spPr>
    <a:solidFill>
      <a:srgbClr val="FAFAFA"/>
    </a:solidFill>
    <a:ln>
      <a:noFill/>
    </a:ln>
    <a:effectLst/>
  </c:spPr>
  <c:txPr>
    <a:bodyPr/>
    <a:lstStyle/>
    <a:p>
      <a:pPr>
        <a:defRPr>
          <a:latin typeface="Verdana"/>
          <a:ea typeface="Verdana"/>
        </a:defRPr>
      </a:pPr>
      <a:endParaRPr lang="en-US"/>
    </a:p>
  </c:txPr>
  <c:externalData r:id="rId1">
    <c:autoUpdate val="0"/>
  </c:externalData>
  <c:userShapes r:id="rId2"/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/>
            </a:pPr>
            <a:r>
              <a:rPr lang="zh-CN" altLang="en-US" sz="1000">
                <a:solidFill>
                  <a:srgbClr val="000000"/>
                </a:solidFill>
                <a:latin typeface="Verdana"/>
                <a:ea typeface="Verdana"/>
              </a:rPr>
              <a:t>Partial formalization dominates the hotspot mix, while fully unresolved cases remain limited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Hotspot Count</c:v>
                </c:pt>
              </c:strCache>
            </c:strRef>
          </c:tx>
          <c:spPr>
            <a:noFill/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4765FF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6982FF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8BA2FF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600" b="0" i="0" u="none" strike="noStrike">
                      <a:solidFill>
                        <a:srgbClr val="000000"/>
                      </a:solidFill>
                      <a:latin typeface="Verdana"/>
                      <a:ea typeface="Verdana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600" b="0" i="0" u="none" strike="noStrike">
                      <a:solidFill>
                        <a:srgbClr val="000000"/>
                      </a:solidFill>
                      <a:latin typeface="Verdana"/>
                      <a:ea typeface="Verdana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600" b="0" i="0" u="none" strike="noStrike">
                      <a:solidFill>
                        <a:srgbClr val="000000"/>
                      </a:solidFill>
                      <a:latin typeface="Verdana"/>
                      <a:ea typeface="Verdana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Partially Formalized</c:v>
                </c:pt>
                <c:pt idx="1">
                  <c:v>Under Assessment</c:v>
                </c:pt>
                <c:pt idx="2">
                  <c:v>Not Formalized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</c:v>
                </c:pt>
                <c:pt idx="1">
                  <c:v>2</c:v>
                </c:pt>
                <c:pt idx="2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A4B-B34A-B37E-F34C1DBA8C5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90"/>
      </c:pieChart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600">
              <a:latin typeface="Verdana"/>
              <a:ea typeface="Verdana"/>
            </a:defRPr>
          </a:pPr>
          <a:endParaRPr lang="en-US"/>
        </a:p>
      </c:txPr>
    </c:legend>
    <c:plotVisOnly val="1"/>
    <c:dispBlanksAs val="zero"/>
    <c:showDLblsOverMax val="1"/>
  </c:chart>
  <c:spPr>
    <a:solidFill>
      <a:srgbClr val="FAFAFA"/>
    </a:solidFill>
    <a:ln>
      <a:noFill/>
    </a:ln>
    <a:effectLst/>
  </c:spPr>
  <c:txPr>
    <a:bodyPr/>
    <a:lstStyle/>
    <a:p>
      <a:pPr>
        <a:defRPr>
          <a:latin typeface="Verdana"/>
          <a:ea typeface="Verdana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/>
            </a:pPr>
            <a:r>
              <a:rPr lang="zh-CN" altLang="en-US" sz="1000">
                <a:solidFill>
                  <a:srgbClr val="000000"/>
                </a:solidFill>
                <a:latin typeface="Verdana"/>
                <a:ea typeface="Verdana"/>
              </a:rPr>
              <a:t>K.R. Market trails peers, indicating the widest registration gap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v>Registration / Training Rate</c:v>
          </c:tx>
          <c:spPr>
            <a:solidFill>
              <a:srgbClr val="4765FF"/>
            </a:solidFill>
            <a:ln>
              <a:noFill/>
            </a:ln>
          </c:spPr>
          <c:invertIfNegative val="0"/>
          <c:dPt>
            <c:idx val="1"/>
            <c:invertIfNegative val="1"/>
            <c:bubble3D val="0"/>
            <c:spPr>
              <a:solidFill>
                <a:srgbClr val="D9D9D9"/>
              </a:solidFill>
              <a:ln>
                <a:noFill/>
              </a:ln>
            </c:spPr>
          </c:dPt>
          <c:dPt>
            <c:idx val="2"/>
            <c:invertIfNegative val="1"/>
            <c:bubble3D val="0"/>
            <c:spPr>
              <a:solidFill>
                <a:srgbClr val="D9D9D9"/>
              </a:solidFill>
              <a:ln>
                <a:noFill/>
              </a:ln>
            </c:spPr>
          </c:dPt>
          <c:dPt>
            <c:idx val="3"/>
            <c:invertIfNegative val="1"/>
            <c:bubble3D val="0"/>
            <c:spPr>
              <a:solidFill>
                <a:srgbClr val="D9D9D9"/>
              </a:solidFill>
              <a:ln>
                <a:noFill/>
              </a:ln>
            </c:spPr>
          </c:dPt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00" b="0" i="0" u="none" strike="noStrike">
                    <a:solidFill>
                      <a:srgbClr val="000000"/>
                    </a:solidFill>
                    <a:latin typeface="Verdana"/>
                    <a:ea typeface="Verdana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K.R. Market scrap trading cluster</c:v>
                </c:pt>
                <c:pt idx="1">
                  <c:v>Peenya Industrial Area periphery</c:v>
                </c:pt>
                <c:pt idx="2">
                  <c:v>Narasapura-Kolar industrial belt periphery</c:v>
                </c:pt>
                <c:pt idx="3">
                  <c:v>Nayandahalli-Mysore Road e-waste corridor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16.7</c:v>
                </c:pt>
                <c:pt idx="2">
                  <c:v>20</c:v>
                </c:pt>
                <c:pt idx="3">
                  <c:v>33.299999999999997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8A5-3148-AFBE-DD50F067E6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-40"/>
        <c:axId val="123456"/>
        <c:axId val="654321"/>
      </c:barChart>
      <c:catAx>
        <c:axId val="12345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low"/>
        <c:spPr>
          <a:ln w="6350" cap="flat">
            <a:solidFill>
              <a:srgbClr val="D1D5DB"/>
            </a:solidFill>
            <a:prstDash val="dash"/>
          </a:ln>
        </c:spPr>
        <c:txPr>
          <a:bodyPr rot="0" vert="horz"/>
          <a:lstStyle/>
          <a:p>
            <a:pPr>
              <a:defRPr sz="600" b="0" i="0" u="none" strike="noStrike">
                <a:solidFill>
                  <a:srgbClr val="000000"/>
                </a:solidFill>
                <a:latin typeface="Verdana"/>
                <a:ea typeface="Verdana"/>
              </a:defRPr>
            </a:pPr>
            <a:endParaRPr lang="en-US"/>
          </a:p>
        </c:txPr>
        <c:crossAx val="654321"/>
        <c:crosses val="autoZero"/>
        <c:auto val="1"/>
        <c:lblAlgn val="ctr"/>
        <c:lblOffset val="100"/>
        <c:noMultiLvlLbl val="1"/>
      </c:catAx>
      <c:valAx>
        <c:axId val="654321"/>
        <c:scaling>
          <c:orientation val="minMax"/>
          <c:max val="40"/>
          <c:min val="0"/>
        </c:scaling>
        <c:delete val="0"/>
        <c:axPos val="b"/>
        <c:majorGridlines>
          <c:spPr>
            <a:ln w="6350" cap="flat">
              <a:solidFill>
                <a:srgbClr val="D1D5DB"/>
              </a:solidFill>
              <a:prstDash val="dash"/>
            </a:ln>
          </c:spPr>
        </c:majorGridlines>
        <c:numFmt formatCode="General" sourceLinked="0"/>
        <c:majorTickMark val="none"/>
        <c:minorTickMark val="none"/>
        <c:tickLblPos val="nextTo"/>
        <c:spPr>
          <a:ln w="6350" cap="flat">
            <a:solidFill>
              <a:srgbClr val="D1D5DB"/>
            </a:solidFill>
            <a:prstDash val="dash"/>
          </a:ln>
        </c:spPr>
        <c:txPr>
          <a:bodyPr rot="0" vert="horz"/>
          <a:lstStyle/>
          <a:p>
            <a:pPr>
              <a:defRPr sz="600" b="0" i="0" u="none" strike="noStrike">
                <a:solidFill>
                  <a:srgbClr val="000000"/>
                </a:solidFill>
                <a:latin typeface="Verdana"/>
                <a:ea typeface="Verdana"/>
              </a:defRPr>
            </a:pPr>
            <a:endParaRPr lang="en-US"/>
          </a:p>
        </c:txPr>
        <c:crossAx val="123456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600">
              <a:latin typeface="Verdana"/>
              <a:ea typeface="Verdana"/>
            </a:defRPr>
          </a:pPr>
          <a:endParaRPr lang="en-US"/>
        </a:p>
      </c:txPr>
    </c:legend>
    <c:plotVisOnly val="1"/>
    <c:dispBlanksAs val="zero"/>
    <c:showDLblsOverMax val="1"/>
  </c:chart>
  <c:spPr>
    <a:solidFill>
      <a:srgbClr val="FAFAFA"/>
    </a:solidFill>
    <a:ln>
      <a:noFill/>
    </a:ln>
    <a:effectLst/>
  </c:spPr>
  <c:txPr>
    <a:bodyPr/>
    <a:lstStyle/>
    <a:p>
      <a:pPr>
        <a:defRPr>
          <a:latin typeface="Verdana"/>
          <a:ea typeface="Verdana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/>
            </a:pPr>
            <a:r>
              <a:rPr lang="zh-CN" altLang="en-US" sz="1000">
                <a:solidFill>
                  <a:srgbClr val="000000"/>
                </a:solidFill>
                <a:latin typeface="Verdana"/>
                <a:ea typeface="Verdana"/>
              </a:rPr>
              <a:t>Exceedance cases dominate risk attention despite matching within-limit count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Monitoring Record Count</c:v>
                </c:pt>
              </c:strCache>
            </c:strRef>
          </c:tx>
          <c:spPr>
            <a:noFill/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4765FF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6982FF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8BA2FF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3"/>
            <c:bubble3D val="0"/>
            <c:spPr>
              <a:solidFill>
                <a:srgbClr val="ADC6FF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600" b="0" i="0" u="none" strike="noStrike">
                      <a:solidFill>
                        <a:srgbClr val="000000"/>
                      </a:solidFill>
                      <a:latin typeface="Verdana"/>
                      <a:ea typeface="Verdana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600" b="0" i="0" u="none" strike="noStrike">
                      <a:solidFill>
                        <a:srgbClr val="000000"/>
                      </a:solidFill>
                      <a:latin typeface="Verdana"/>
                      <a:ea typeface="Verdana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600" b="0" i="0" u="none" strike="noStrike">
                      <a:solidFill>
                        <a:srgbClr val="000000"/>
                      </a:solidFill>
                      <a:latin typeface="Verdana"/>
                      <a:ea typeface="Verdana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600" b="0" i="0" u="none" strike="noStrike">
                      <a:solidFill>
                        <a:srgbClr val="000000"/>
                      </a:solidFill>
                      <a:latin typeface="Verdana"/>
                      <a:ea typeface="Verdana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Exceeds Limit (Pb)</c:v>
                </c:pt>
                <c:pt idx="1">
                  <c:v>Within Limits</c:v>
                </c:pt>
                <c:pt idx="2">
                  <c:v>Exceeds Limit (heavy metals)</c:v>
                </c:pt>
                <c:pt idx="3">
                  <c:v>Exceeds Limit (Pb, Cd)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1</c:v>
                </c:pt>
                <c:pt idx="3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E38-9F4C-9D1B-B2F0D9AE85B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90"/>
      </c:pieChart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600">
              <a:latin typeface="Verdana"/>
              <a:ea typeface="Verdana"/>
            </a:defRPr>
          </a:pPr>
          <a:endParaRPr lang="en-US"/>
        </a:p>
      </c:txPr>
    </c:legend>
    <c:plotVisOnly val="1"/>
    <c:dispBlanksAs val="zero"/>
    <c:showDLblsOverMax val="1"/>
  </c:chart>
  <c:spPr>
    <a:solidFill>
      <a:srgbClr val="FAFAFA"/>
    </a:solidFill>
    <a:ln>
      <a:noFill/>
    </a:ln>
    <a:effectLst/>
  </c:spPr>
  <c:txPr>
    <a:bodyPr/>
    <a:lstStyle/>
    <a:p>
      <a:pPr>
        <a:defRPr>
          <a:latin typeface="Verdana"/>
          <a:ea typeface="Verdana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/>
            </a:pPr>
            <a:r>
              <a:rPr lang="zh-CN" altLang="en-US" sz="1000">
                <a:solidFill>
                  <a:srgbClr val="000000"/>
                </a:solidFill>
                <a:latin typeface="Verdana"/>
                <a:ea typeface="Verdana"/>
              </a:rPr>
              <a:t>Bengaluru Urban far outpaces other districts in participant reach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v>Total Participants Reached</c:v>
          </c:tx>
          <c:spPr>
            <a:solidFill>
              <a:srgbClr val="4765FF"/>
            </a:solidFill>
            <a:ln>
              <a:noFill/>
            </a:ln>
          </c:spPr>
          <c:invertIfNegative val="0"/>
          <c:dPt>
            <c:idx val="1"/>
            <c:invertIfNegative val="1"/>
            <c:bubble3D val="0"/>
            <c:spPr>
              <a:solidFill>
                <a:srgbClr val="D9D9D9"/>
              </a:solidFill>
              <a:ln>
                <a:noFill/>
              </a:ln>
            </c:spPr>
          </c:dPt>
          <c:dPt>
            <c:idx val="2"/>
            <c:invertIfNegative val="1"/>
            <c:bubble3D val="0"/>
            <c:spPr>
              <a:solidFill>
                <a:srgbClr val="D9D9D9"/>
              </a:solidFill>
              <a:ln>
                <a:noFill/>
              </a:ln>
            </c:spPr>
          </c:dPt>
          <c:dPt>
            <c:idx val="3"/>
            <c:invertIfNegative val="1"/>
            <c:bubble3D val="0"/>
            <c:spPr>
              <a:solidFill>
                <a:srgbClr val="D9D9D9"/>
              </a:solidFill>
              <a:ln>
                <a:noFill/>
              </a:ln>
            </c:spPr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00" b="0" i="0" u="none" strike="noStrike">
                    <a:solidFill>
                      <a:srgbClr val="000000"/>
                    </a:solidFill>
                    <a:latin typeface="Verdana"/>
                    <a:ea typeface="Verdana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Bengaluru Urban</c:v>
                </c:pt>
                <c:pt idx="1">
                  <c:v>Kolar</c:v>
                </c:pt>
                <c:pt idx="2">
                  <c:v>Mysuru</c:v>
                </c:pt>
                <c:pt idx="3">
                  <c:v>Dharwad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3350</c:v>
                </c:pt>
                <c:pt idx="1">
                  <c:v>600</c:v>
                </c:pt>
                <c:pt idx="2">
                  <c:v>500</c:v>
                </c:pt>
                <c:pt idx="3">
                  <c:v>350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773-F840-96E9-DD349FFBD26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-40"/>
        <c:axId val="123456"/>
        <c:axId val="654321"/>
      </c:barChart>
      <c:catAx>
        <c:axId val="12345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low"/>
        <c:spPr>
          <a:ln w="6350" cap="flat">
            <a:solidFill>
              <a:srgbClr val="D1D5DB"/>
            </a:solidFill>
            <a:prstDash val="dash"/>
          </a:ln>
        </c:spPr>
        <c:txPr>
          <a:bodyPr rot="0" vert="horz"/>
          <a:lstStyle/>
          <a:p>
            <a:pPr>
              <a:defRPr sz="600" b="0" i="0" u="none" strike="noStrike">
                <a:solidFill>
                  <a:srgbClr val="000000"/>
                </a:solidFill>
                <a:latin typeface="Verdana"/>
                <a:ea typeface="Verdana"/>
              </a:defRPr>
            </a:pPr>
            <a:endParaRPr lang="en-US"/>
          </a:p>
        </c:txPr>
        <c:crossAx val="654321"/>
        <c:crosses val="autoZero"/>
        <c:auto val="1"/>
        <c:lblAlgn val="ctr"/>
        <c:lblOffset val="100"/>
        <c:noMultiLvlLbl val="1"/>
      </c:catAx>
      <c:valAx>
        <c:axId val="654321"/>
        <c:scaling>
          <c:orientation val="minMax"/>
          <c:max val="4000"/>
          <c:min val="0"/>
        </c:scaling>
        <c:delete val="0"/>
        <c:axPos val="b"/>
        <c:majorGridlines>
          <c:spPr>
            <a:ln w="6350" cap="flat">
              <a:solidFill>
                <a:srgbClr val="D1D5DB"/>
              </a:solidFill>
              <a:prstDash val="dash"/>
            </a:ln>
          </c:spPr>
        </c:majorGridlines>
        <c:numFmt formatCode="0.00" sourceLinked="0"/>
        <c:majorTickMark val="none"/>
        <c:minorTickMark val="none"/>
        <c:tickLblPos val="nextTo"/>
        <c:spPr>
          <a:ln w="6350" cap="flat">
            <a:solidFill>
              <a:srgbClr val="D1D5DB"/>
            </a:solidFill>
            <a:prstDash val="dash"/>
          </a:ln>
        </c:spPr>
        <c:txPr>
          <a:bodyPr rot="0" vert="horz"/>
          <a:lstStyle/>
          <a:p>
            <a:pPr>
              <a:defRPr sz="600" b="0" i="0" u="none" strike="noStrike">
                <a:solidFill>
                  <a:srgbClr val="000000"/>
                </a:solidFill>
                <a:latin typeface="Verdana"/>
                <a:ea typeface="Verdana"/>
              </a:defRPr>
            </a:pPr>
            <a:endParaRPr lang="en-US"/>
          </a:p>
        </c:txPr>
        <c:crossAx val="123456"/>
        <c:crosses val="autoZero"/>
        <c:crossBetween val="between"/>
        <c:majorUnit val="1000"/>
        <c:dispUnits>
          <c:builtInUnit val="thousands"/>
          <c:dispUnitsLbl>
            <c:tx>
              <c:rich>
                <a:bodyPr rot="0" vert="horz"/>
                <a:lstStyle/>
                <a:p>
                  <a:r>
                    <a:rPr lang="en-US" sz="600">
                      <a:solidFill>
                        <a:srgbClr val="000000"/>
                      </a:solidFill>
                      <a:latin typeface="Verdana"/>
                      <a:ea typeface="Verdana"/>
                    </a:rPr>
                    <a:t>K</a:t>
                  </a:r>
                </a:p>
              </c:rich>
            </c:tx>
          </c:dispUnitsLbl>
        </c:dispUnits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600">
              <a:latin typeface="Verdana"/>
              <a:ea typeface="Verdana"/>
            </a:defRPr>
          </a:pPr>
          <a:endParaRPr lang="en-US"/>
        </a:p>
      </c:txPr>
    </c:legend>
    <c:plotVisOnly val="1"/>
    <c:dispBlanksAs val="zero"/>
    <c:showDLblsOverMax val="1"/>
  </c:chart>
  <c:spPr>
    <a:solidFill>
      <a:srgbClr val="FAFAFA"/>
    </a:solidFill>
    <a:ln>
      <a:noFill/>
    </a:ln>
    <a:effectLst/>
  </c:spPr>
  <c:txPr>
    <a:bodyPr/>
    <a:lstStyle/>
    <a:p>
      <a:pPr>
        <a:defRPr>
          <a:latin typeface="Verdana"/>
          <a:ea typeface="Verdana"/>
        </a:defRPr>
      </a:pPr>
      <a:endParaRPr lang="en-US"/>
    </a:p>
  </c:txPr>
  <c:externalData r:id="rId1">
    <c:autoUpdate val="0"/>
  </c:externalData>
</c:chartSpac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0.8</cdr:x>
      <cdr:y>0.26</cdr:y>
    </cdr:from>
    <cdr:to>
      <cdr:x>0.80001</cdr:x>
      <cdr:y>0.84</cdr:y>
    </cdr:to>
    <cdr:sp macro="" textlink="">
      <cdr:nvSpPr>
        <cdr:cNvPr id="2" name="MarkLine 2"/>
        <cdr:cNvSpPr/>
      </cdr:nvSpPr>
      <cdr:spPr>
        <a:prstGeom xmlns:a="http://schemas.openxmlformats.org/drawingml/2006/main" prst="line">
          <a:avLst/>
        </a:prstGeom>
        <a:ln xmlns:a="http://schemas.openxmlformats.org/drawingml/2006/main" w="9525" cap="flat">
          <a:solidFill>
            <a:srgbClr val="757575"/>
          </a:solidFill>
          <a:prstDash val="dash"/>
        </a:ln>
      </cdr:spPr>
      <cdr:txBody>
        <a:bodyPr xmlns:a="http://schemas.openxmlformats.org/drawingml/2006/main"/>
        <a:lstStyle xmlns:a="http://schemas.openxmlformats.org/drawingml/2006/main"/>
        <a:p xmlns:a="http://schemas.openxmlformats.org/drawingml/2006/main">
          <a:endParaRPr/>
        </a:p>
      </cdr:txBody>
    </cdr:sp>
  </cdr:relSizeAnchor>
  <cdr:relSizeAnchor xmlns:cdr="http://schemas.openxmlformats.org/drawingml/2006/chartDrawing">
    <cdr:from>
      <cdr:x>0.72534</cdr:x>
      <cdr:y>0.15446</cdr:y>
    </cdr:from>
    <cdr:to>
      <cdr:x>0.87466</cdr:x>
      <cdr:y>0.22482</cdr:y>
    </cdr:to>
    <cdr:sp macro="" textlink="">
      <cdr:nvSpPr>
        <cdr:cNvPr id="3" name="MarkLabel 3"/>
        <cdr:cNvSpPr txBox="1"/>
      </cdr:nvSpPr>
      <cdr:spPr>
        <a:prstGeom xmlns:a="http://schemas.openxmlformats.org/drawingml/2006/main" prst="roundRect">
          <a:avLst/>
        </a:prstGeom>
        <a:solidFill xmlns:a="http://schemas.openxmlformats.org/drawingml/2006/main">
          <a:srgbClr val="111827"/>
        </a:solidFill>
        <a:ln xmlns:a="http://schemas.openxmlformats.org/drawingml/2006/main">
          <a:noFill/>
        </a:ln>
      </cdr:spPr>
      <cdr:txBody>
        <a:bodyPr xmlns:a="http://schemas.openxmlformats.org/drawingml/2006/main" lIns="38100" tIns="9525" rIns="38100" bIns="9525" anchor="ctr"/>
        <a:lstStyle xmlns:a="http://schemas.openxmlformats.org/drawingml/2006/main"/>
        <a:p xmlns:a="http://schemas.openxmlformats.org/drawingml/2006/main">
          <a:pPr algn="l"/>
          <a:r>
            <a:rPr lang="zh-CN" altLang="en-US" sz="600" b="1">
              <a:solidFill>
                <a:srgbClr val="FFFFFF"/>
              </a:solidFill>
              <a:latin typeface="Verdana"/>
              <a:ea typeface="Verdana"/>
            </a:rPr>
            <a:t>Average:65</a:t>
          </a:r>
          <a:endParaRPr lang="zh-CN" sz="600" b="1">
            <a:solidFill>
              <a:srgbClr val="FFFFFF"/>
            </a:solidFill>
            <a:latin typeface="Verdana"/>
            <a:ea typeface="Verdana"/>
          </a:endParaRPr>
        </a:p>
      </cdr:txBody>
    </cdr:sp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0.88334</cdr:x>
      <cdr:y>0.26</cdr:y>
    </cdr:from>
    <cdr:to>
      <cdr:x>0.88335</cdr:x>
      <cdr:y>0.84</cdr:y>
    </cdr:to>
    <cdr:sp macro="" textlink="">
      <cdr:nvSpPr>
        <cdr:cNvPr id="2" name="MarkLine 2"/>
        <cdr:cNvSpPr/>
      </cdr:nvSpPr>
      <cdr:spPr>
        <a:prstGeom xmlns:a="http://schemas.openxmlformats.org/drawingml/2006/main" prst="line">
          <a:avLst/>
        </a:prstGeom>
        <a:ln xmlns:a="http://schemas.openxmlformats.org/drawingml/2006/main" w="9525" cap="flat">
          <a:solidFill>
            <a:srgbClr val="757575"/>
          </a:solidFill>
          <a:prstDash val="dash"/>
        </a:ln>
      </cdr:spPr>
      <cdr:txBody>
        <a:bodyPr xmlns:a="http://schemas.openxmlformats.org/drawingml/2006/main"/>
        <a:lstStyle xmlns:a="http://schemas.openxmlformats.org/drawingml/2006/main"/>
        <a:p xmlns:a="http://schemas.openxmlformats.org/drawingml/2006/main">
          <a:endParaRPr/>
        </a:p>
      </cdr:txBody>
    </cdr:sp>
  </cdr:relSizeAnchor>
  <cdr:relSizeAnchor xmlns:cdr="http://schemas.openxmlformats.org/drawingml/2006/chartDrawing">
    <cdr:from>
      <cdr:x>0.82123</cdr:x>
      <cdr:y>0.17984</cdr:y>
    </cdr:from>
    <cdr:to>
      <cdr:x>0.93929</cdr:x>
      <cdr:y>0.23328</cdr:y>
    </cdr:to>
    <cdr:sp macro="" textlink="">
      <cdr:nvSpPr>
        <cdr:cNvPr id="3" name="MarkLabel 3"/>
        <cdr:cNvSpPr txBox="1"/>
      </cdr:nvSpPr>
      <cdr:spPr>
        <a:prstGeom xmlns:a="http://schemas.openxmlformats.org/drawingml/2006/main" prst="roundRect">
          <a:avLst/>
        </a:prstGeom>
        <a:solidFill xmlns:a="http://schemas.openxmlformats.org/drawingml/2006/main">
          <a:srgbClr val="111827"/>
        </a:solidFill>
        <a:ln xmlns:a="http://schemas.openxmlformats.org/drawingml/2006/main">
          <a:noFill/>
        </a:ln>
      </cdr:spPr>
      <cdr:txBody>
        <a:bodyPr xmlns:a="http://schemas.openxmlformats.org/drawingml/2006/main" lIns="38100" tIns="9525" rIns="38100" bIns="9525" anchor="ctr"/>
        <a:lstStyle xmlns:a="http://schemas.openxmlformats.org/drawingml/2006/main"/>
        <a:p xmlns:a="http://schemas.openxmlformats.org/drawingml/2006/main">
          <a:pPr algn="l"/>
          <a:r>
            <a:rPr lang="zh-CN" altLang="en-US" sz="600" b="1">
              <a:solidFill>
                <a:srgbClr val="FFFFFF"/>
              </a:solidFill>
              <a:latin typeface="Verdana"/>
              <a:ea typeface="Verdana"/>
            </a:rPr>
            <a:t>Average:91.7</a:t>
          </a:r>
          <a:endParaRPr lang="zh-CN" sz="600" b="1">
            <a:solidFill>
              <a:srgbClr val="FFFFFF"/>
            </a:solidFill>
            <a:latin typeface="Verdana"/>
            <a:ea typeface="Verdana"/>
          </a:endParaRPr>
        </a:p>
      </cdr:txBody>
    </cdr:sp>
  </cdr:relSizeAnchor>
</c:userShapes>
</file>

<file path=ppt/drawings/drawing3.xml><?xml version="1.0" encoding="utf-8"?>
<c:userShapes xmlns:c="http://schemas.openxmlformats.org/drawingml/2006/chart">
  <cdr:relSizeAnchor xmlns:cdr="http://schemas.openxmlformats.org/drawingml/2006/chartDrawing">
    <cdr:from>
      <cdr:x>0.406</cdr:x>
      <cdr:y>0.26</cdr:y>
    </cdr:from>
    <cdr:to>
      <cdr:x>0.40601</cdr:x>
      <cdr:y>0.84</cdr:y>
    </cdr:to>
    <cdr:sp macro="" textlink="">
      <cdr:nvSpPr>
        <cdr:cNvPr id="2" name="MarkLine 2"/>
        <cdr:cNvSpPr/>
      </cdr:nvSpPr>
      <cdr:spPr>
        <a:prstGeom xmlns:a="http://schemas.openxmlformats.org/drawingml/2006/main" prst="line">
          <a:avLst/>
        </a:prstGeom>
        <a:ln xmlns:a="http://schemas.openxmlformats.org/drawingml/2006/main" w="9525" cap="flat">
          <a:solidFill>
            <a:srgbClr val="757575"/>
          </a:solidFill>
          <a:prstDash val="dash"/>
        </a:ln>
      </cdr:spPr>
      <cdr:txBody>
        <a:bodyPr xmlns:a="http://schemas.openxmlformats.org/drawingml/2006/main"/>
        <a:lstStyle xmlns:a="http://schemas.openxmlformats.org/drawingml/2006/main"/>
        <a:p xmlns:a="http://schemas.openxmlformats.org/drawingml/2006/main">
          <a:endParaRPr/>
        </a:p>
      </cdr:txBody>
    </cdr:sp>
  </cdr:relSizeAnchor>
  <cdr:relSizeAnchor xmlns:cdr="http://schemas.openxmlformats.org/drawingml/2006/chartDrawing">
    <cdr:from>
      <cdr:x>0.31904</cdr:x>
      <cdr:y>0.15446</cdr:y>
    </cdr:from>
    <cdr:to>
      <cdr:x>0.49296</cdr:x>
      <cdr:y>0.22482</cdr:y>
    </cdr:to>
    <cdr:sp macro="" textlink="">
      <cdr:nvSpPr>
        <cdr:cNvPr id="3" name="MarkLabel 3"/>
        <cdr:cNvSpPr txBox="1"/>
      </cdr:nvSpPr>
      <cdr:spPr>
        <a:prstGeom xmlns:a="http://schemas.openxmlformats.org/drawingml/2006/main" prst="roundRect">
          <a:avLst/>
        </a:prstGeom>
        <a:solidFill xmlns:a="http://schemas.openxmlformats.org/drawingml/2006/main">
          <a:srgbClr val="111827"/>
        </a:solidFill>
        <a:ln xmlns:a="http://schemas.openxmlformats.org/drawingml/2006/main">
          <a:noFill/>
        </a:ln>
      </cdr:spPr>
      <cdr:txBody>
        <a:bodyPr xmlns:a="http://schemas.openxmlformats.org/drawingml/2006/main" lIns="38100" tIns="9525" rIns="38100" bIns="9525" anchor="ctr"/>
        <a:lstStyle xmlns:a="http://schemas.openxmlformats.org/drawingml/2006/main"/>
        <a:p xmlns:a="http://schemas.openxmlformats.org/drawingml/2006/main">
          <a:pPr algn="l"/>
          <a:r>
            <a:rPr lang="zh-CN" altLang="en-US" sz="600" b="1">
              <a:solidFill>
                <a:srgbClr val="FFFFFF"/>
              </a:solidFill>
              <a:latin typeface="Verdana"/>
              <a:ea typeface="Verdana"/>
            </a:rPr>
            <a:t>Average:25.6</a:t>
          </a:r>
          <a:endParaRPr lang="zh-CN" sz="600" b="1">
            <a:solidFill>
              <a:srgbClr val="FFFFFF"/>
            </a:solidFill>
            <a:latin typeface="Verdana"/>
            <a:ea typeface="Verdana"/>
          </a:endParaRPr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7AFEF8-4728-E74E-B4A8-CF3B59A267DD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41882C-740B-C64F-BEAD-3909E0222E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7921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 /><Relationship Id="rId1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.xml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1.xml" /><Relationship Id="rId4" Type="http://schemas.openxmlformats.org/officeDocument/2006/relationships/chart" Target="../charts/chart2.xml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1.xml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 /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1.xml" /><Relationship Id="rId4" Type="http://schemas.openxmlformats.org/officeDocument/2006/relationships/chart" Target="../charts/chart5.xml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 /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1.xml" /><Relationship Id="rId4" Type="http://schemas.openxmlformats.org/officeDocument/2006/relationships/chart" Target="../charts/chart7.xml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 /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1.xml" /><Relationship Id="rId4" Type="http://schemas.openxmlformats.org/officeDocument/2006/relationships/chart" Target="../charts/chart9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1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76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 Title 2"/>
          <p:cNvSpPr txBox="1"/>
          <p:nvPr/>
        </p:nvSpPr>
        <p:spPr>
          <a:xfrm>
            <a:off x="442912" y="293370"/>
            <a:ext cx="6667500" cy="1697355"/>
          </a:xfrm>
          <a:prstGeom prst="rect">
            <a:avLst/>
          </a:prstGeom>
          <a:noFill/>
        </p:spPr>
        <p:txBody>
          <a:bodyPr vertOverflow="clip" wrap="square" lIns="0" tIns="0" rIns="0" bIns="0" rtlCol="0" anchor="b"/>
          <a:lstStyle/>
          <a:p>
            <a:pPr algn="l"/>
            <a:r>
              <a:rPr lang="en-US" sz="4100" b="1" dirty="0">
                <a:solidFill>
                  <a:srgbClr val="FFFFFF"/>
                </a:solidFill>
                <a:latin typeface="Verdana"/>
                <a:ea typeface="Verdana"/>
              </a:rPr>
              <a:t>Karnataka E-Waste  </a:t>
            </a:r>
            <a:r>
              <a:rPr lang="en-GB" sz="4100" b="1" dirty="0">
                <a:solidFill>
                  <a:srgbClr val="FFFFFF"/>
                </a:solidFill>
                <a:latin typeface="Verdana"/>
                <a:ea typeface="Verdana"/>
              </a:rPr>
              <a:t>Report</a:t>
            </a:r>
            <a:endParaRPr lang="en-US" sz="4100" b="1" dirty="0">
              <a:solidFill>
                <a:srgbClr val="FFFFFF"/>
              </a:solidFill>
              <a:latin typeface="Verdana"/>
              <a:ea typeface="Verdana"/>
            </a:endParaRPr>
          </a:p>
        </p:txBody>
      </p:sp>
      <p:sp>
        <p:nvSpPr>
          <p:cNvPr id="3" name="Cover Subtitle 3"/>
          <p:cNvSpPr txBox="1"/>
          <p:nvPr/>
        </p:nvSpPr>
        <p:spPr>
          <a:xfrm>
            <a:off x="442912" y="2571750"/>
            <a:ext cx="5238750" cy="381000"/>
          </a:xfrm>
          <a:prstGeom prst="rect">
            <a:avLst/>
          </a:prstGeom>
          <a:noFill/>
        </p:spPr>
        <p:txBody>
          <a:bodyPr vertOverflow="clip" wrap="square" lIns="0" tIns="0" rIns="0" bIns="0" rtlCol="0" anchor="t"/>
          <a:lstStyle/>
          <a:p>
            <a:pPr algn="l"/>
            <a:r>
              <a:rPr lang="en-US" sz="2000">
                <a:solidFill>
                  <a:srgbClr val="FFFFFF"/>
                </a:solidFill>
                <a:latin typeface="Verdana"/>
                <a:ea typeface="Verdana"/>
              </a:rPr>
              <a:t>District and thematic performance review for program managers and department leads</a:t>
            </a:r>
          </a:p>
        </p:txBody>
      </p:sp>
      <p:sp>
        <p:nvSpPr>
          <p:cNvPr id="4" name="Rectangle 4"/>
          <p:cNvSpPr/>
          <p:nvPr/>
        </p:nvSpPr>
        <p:spPr>
          <a:xfrm>
            <a:off x="442912" y="2371725"/>
            <a:ext cx="576262" cy="9644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5" name="Cover Date 5"/>
          <p:cNvSpPr txBox="1"/>
          <p:nvPr/>
        </p:nvSpPr>
        <p:spPr>
          <a:xfrm>
            <a:off x="442912" y="4614862"/>
            <a:ext cx="4524375" cy="209550"/>
          </a:xfrm>
          <a:prstGeom prst="rect">
            <a:avLst/>
          </a:prstGeom>
          <a:noFill/>
        </p:spPr>
        <p:txBody>
          <a:bodyPr vertOverflow="clip" wrap="square" lIns="0" tIns="0" rIns="0" bIns="0" rtlCol="0" anchor="ctr"/>
          <a:lstStyle/>
          <a:p>
            <a:pPr algn="l"/>
            <a:r>
              <a:rPr lang="en-US" sz="1300">
                <a:solidFill>
                  <a:srgbClr val="FFFFFF"/>
                </a:solidFill>
                <a:latin typeface="Verdana"/>
                <a:ea typeface="Verdana"/>
              </a:rPr>
              <a:t>July 22, 2026</a:t>
            </a:r>
          </a:p>
        </p:txBody>
      </p:sp>
      <p:grpSp>
        <p:nvGrpSpPr>
          <p:cNvPr id="6" name="SmartLayout 6"/>
          <p:cNvGrpSpPr/>
          <p:nvPr/>
        </p:nvGrpSpPr>
        <p:grpSpPr>
          <a:xfrm>
            <a:off x="0" y="0"/>
            <a:ext cx="9144000" cy="5143500"/>
            <a:chOff x="0" y="0"/>
            <a:chExt cx="18288000" cy="10287000"/>
          </a:xfrm>
        </p:grpSpPr>
        <p:sp>
          <p:nvSpPr>
            <p:cNvPr id="7" name="Path 7"/>
            <p:cNvSpPr>
              <a:spLocks noGrp="1"/>
            </p:cNvSpPr>
            <p:nvPr/>
          </p:nvSpPr>
          <p:spPr>
            <a:xfrm>
              <a:off x="13858783" y="5955725"/>
              <a:ext cx="3907520" cy="4527176"/>
            </a:xfrm>
            <a:custGeom>
              <a:avLst/>
              <a:gdLst/>
              <a:ahLst/>
              <a:cxnLst/>
              <a:rect l="0" t="0" r="r" b="b"/>
              <a:pathLst>
                <a:path w="3907520" h="4527176">
                  <a:moveTo>
                    <a:pt x="2194742" y="3640696"/>
                  </a:moveTo>
                  <a:lnTo>
                    <a:pt x="2194742" y="3408263"/>
                  </a:lnTo>
                  <a:cubicBezTo>
                    <a:pt x="2194742" y="3247580"/>
                    <a:pt x="2227767" y="3100585"/>
                    <a:pt x="2293734" y="2967186"/>
                  </a:cubicBezTo>
                  <a:cubicBezTo>
                    <a:pt x="2361125" y="2832344"/>
                    <a:pt x="2458692" y="2724761"/>
                    <a:pt x="2586349" y="2644428"/>
                  </a:cubicBezTo>
                  <a:cubicBezTo>
                    <a:pt x="2715432" y="2562662"/>
                    <a:pt x="2871840" y="2521783"/>
                    <a:pt x="3055406" y="2521783"/>
                  </a:cubicBezTo>
                  <a:cubicBezTo>
                    <a:pt x="3241906" y="2521783"/>
                    <a:pt x="3398230" y="2562662"/>
                    <a:pt x="3524463" y="2644428"/>
                  </a:cubicBezTo>
                  <a:cubicBezTo>
                    <a:pt x="3650696" y="2724761"/>
                    <a:pt x="3746083" y="2832344"/>
                    <a:pt x="3810624" y="2967186"/>
                  </a:cubicBezTo>
                  <a:cubicBezTo>
                    <a:pt x="3875250" y="3100585"/>
                    <a:pt x="3907520" y="3247580"/>
                    <a:pt x="3907520" y="3408263"/>
                  </a:cubicBezTo>
                  <a:lnTo>
                    <a:pt x="3907520" y="3640696"/>
                  </a:lnTo>
                  <a:cubicBezTo>
                    <a:pt x="3907520" y="3801295"/>
                    <a:pt x="3874495" y="3949070"/>
                    <a:pt x="3808529" y="4083936"/>
                  </a:cubicBezTo>
                  <a:cubicBezTo>
                    <a:pt x="3743987" y="4217294"/>
                    <a:pt x="3647846" y="4324919"/>
                    <a:pt x="3520188" y="4406643"/>
                  </a:cubicBezTo>
                  <a:cubicBezTo>
                    <a:pt x="3393955" y="4487027"/>
                    <a:pt x="3239056" y="4527176"/>
                    <a:pt x="3055406" y="4527176"/>
                  </a:cubicBezTo>
                  <a:cubicBezTo>
                    <a:pt x="2868907" y="4527176"/>
                    <a:pt x="2711828" y="4487027"/>
                    <a:pt x="2584170" y="4406643"/>
                  </a:cubicBezTo>
                  <a:cubicBezTo>
                    <a:pt x="2456512" y="4324919"/>
                    <a:pt x="2359700" y="4217294"/>
                    <a:pt x="2293734" y="4083936"/>
                  </a:cubicBezTo>
                  <a:cubicBezTo>
                    <a:pt x="2227767" y="3949070"/>
                    <a:pt x="2194742" y="3801295"/>
                    <a:pt x="2194742" y="3640696"/>
                  </a:cubicBezTo>
                  <a:close/>
                  <a:moveTo>
                    <a:pt x="2633708" y="3408263"/>
                  </a:moveTo>
                  <a:lnTo>
                    <a:pt x="2633708" y="3640696"/>
                  </a:lnTo>
                  <a:cubicBezTo>
                    <a:pt x="2633708" y="3774054"/>
                    <a:pt x="2665224" y="3893832"/>
                    <a:pt x="2728340" y="4000032"/>
                  </a:cubicBezTo>
                  <a:cubicBezTo>
                    <a:pt x="2791457" y="4104724"/>
                    <a:pt x="2900507" y="4157027"/>
                    <a:pt x="3055406" y="4157027"/>
                  </a:cubicBezTo>
                  <a:cubicBezTo>
                    <a:pt x="3206031" y="4157027"/>
                    <a:pt x="3312147" y="4104724"/>
                    <a:pt x="3373838" y="4000032"/>
                  </a:cubicBezTo>
                  <a:cubicBezTo>
                    <a:pt x="3436955" y="3893832"/>
                    <a:pt x="3468555" y="3774054"/>
                    <a:pt x="3468555" y="3640696"/>
                  </a:cubicBezTo>
                  <a:lnTo>
                    <a:pt x="3468555" y="3408263"/>
                  </a:lnTo>
                  <a:cubicBezTo>
                    <a:pt x="3468555" y="3274906"/>
                    <a:pt x="3438380" y="3155814"/>
                    <a:pt x="3378197" y="3051098"/>
                  </a:cubicBezTo>
                  <a:cubicBezTo>
                    <a:pt x="3317930" y="2944948"/>
                    <a:pt x="3210305" y="2891873"/>
                    <a:pt x="3055406" y="2891873"/>
                  </a:cubicBezTo>
                  <a:cubicBezTo>
                    <a:pt x="2904782" y="2891873"/>
                    <a:pt x="2796486" y="2944948"/>
                    <a:pt x="2730520" y="3051098"/>
                  </a:cubicBezTo>
                  <a:cubicBezTo>
                    <a:pt x="2665978" y="3155814"/>
                    <a:pt x="2633708" y="3274906"/>
                    <a:pt x="2633708" y="3408263"/>
                  </a:cubicBezTo>
                  <a:close/>
                  <a:moveTo>
                    <a:pt x="0" y="1118879"/>
                  </a:moveTo>
                  <a:lnTo>
                    <a:pt x="0" y="886497"/>
                  </a:lnTo>
                  <a:cubicBezTo>
                    <a:pt x="0" y="725839"/>
                    <a:pt x="33025" y="578810"/>
                    <a:pt x="98991" y="445402"/>
                  </a:cubicBezTo>
                  <a:cubicBezTo>
                    <a:pt x="166382" y="310561"/>
                    <a:pt x="263949" y="202978"/>
                    <a:pt x="391607" y="122645"/>
                  </a:cubicBezTo>
                  <a:cubicBezTo>
                    <a:pt x="520689" y="40887"/>
                    <a:pt x="677097" y="0"/>
                    <a:pt x="860663" y="0"/>
                  </a:cubicBezTo>
                  <a:cubicBezTo>
                    <a:pt x="1047163" y="0"/>
                    <a:pt x="1203487" y="40887"/>
                    <a:pt x="1329720" y="122645"/>
                  </a:cubicBezTo>
                  <a:cubicBezTo>
                    <a:pt x="1455953" y="202978"/>
                    <a:pt x="1551424" y="310561"/>
                    <a:pt x="1615965" y="445402"/>
                  </a:cubicBezTo>
                  <a:cubicBezTo>
                    <a:pt x="1680507" y="578810"/>
                    <a:pt x="1712777" y="725839"/>
                    <a:pt x="1712777" y="886497"/>
                  </a:cubicBezTo>
                  <a:lnTo>
                    <a:pt x="1712777" y="1118879"/>
                  </a:lnTo>
                  <a:cubicBezTo>
                    <a:pt x="1712777" y="1279537"/>
                    <a:pt x="1679752" y="1427286"/>
                    <a:pt x="1613786" y="1562128"/>
                  </a:cubicBezTo>
                  <a:cubicBezTo>
                    <a:pt x="1549245" y="1695536"/>
                    <a:pt x="1453103" y="1803119"/>
                    <a:pt x="1325445" y="1884885"/>
                  </a:cubicBezTo>
                  <a:cubicBezTo>
                    <a:pt x="1199212" y="1965210"/>
                    <a:pt x="1044313" y="2005376"/>
                    <a:pt x="860663" y="2005376"/>
                  </a:cubicBezTo>
                  <a:cubicBezTo>
                    <a:pt x="674248" y="2005376"/>
                    <a:pt x="517169" y="1965210"/>
                    <a:pt x="389511" y="1884885"/>
                  </a:cubicBezTo>
                  <a:cubicBezTo>
                    <a:pt x="261769" y="1803119"/>
                    <a:pt x="164957" y="1695536"/>
                    <a:pt x="98991" y="1562128"/>
                  </a:cubicBezTo>
                  <a:cubicBezTo>
                    <a:pt x="33025" y="1427286"/>
                    <a:pt x="0" y="1279537"/>
                    <a:pt x="0" y="1118879"/>
                  </a:cubicBezTo>
                  <a:close/>
                  <a:moveTo>
                    <a:pt x="438965" y="886497"/>
                  </a:moveTo>
                  <a:lnTo>
                    <a:pt x="438965" y="1118879"/>
                  </a:lnTo>
                  <a:cubicBezTo>
                    <a:pt x="438965" y="1252287"/>
                    <a:pt x="470481" y="1372066"/>
                    <a:pt x="533598" y="1478215"/>
                  </a:cubicBezTo>
                  <a:cubicBezTo>
                    <a:pt x="596714" y="1582932"/>
                    <a:pt x="705764" y="1635286"/>
                    <a:pt x="860663" y="1635286"/>
                  </a:cubicBezTo>
                  <a:cubicBezTo>
                    <a:pt x="1011288" y="1635286"/>
                    <a:pt x="1117488" y="1582932"/>
                    <a:pt x="1179179" y="1478215"/>
                  </a:cubicBezTo>
                  <a:cubicBezTo>
                    <a:pt x="1242296" y="1372066"/>
                    <a:pt x="1273812" y="1252287"/>
                    <a:pt x="1273812" y="1118879"/>
                  </a:cubicBezTo>
                  <a:lnTo>
                    <a:pt x="1273812" y="886497"/>
                  </a:lnTo>
                  <a:cubicBezTo>
                    <a:pt x="1273812" y="753097"/>
                    <a:pt x="1243721" y="634031"/>
                    <a:pt x="1183454" y="529314"/>
                  </a:cubicBezTo>
                  <a:cubicBezTo>
                    <a:pt x="1123187" y="423165"/>
                    <a:pt x="1015646" y="370090"/>
                    <a:pt x="860663" y="370090"/>
                  </a:cubicBezTo>
                  <a:cubicBezTo>
                    <a:pt x="710039" y="370090"/>
                    <a:pt x="601743" y="423165"/>
                    <a:pt x="535777" y="529314"/>
                  </a:cubicBezTo>
                  <a:cubicBezTo>
                    <a:pt x="471236" y="634031"/>
                    <a:pt x="438965" y="753097"/>
                    <a:pt x="438965" y="886497"/>
                  </a:cubicBezTo>
                  <a:close/>
                  <a:moveTo>
                    <a:pt x="163532" y="4466910"/>
                  </a:moveTo>
                  <a:lnTo>
                    <a:pt x="3193122" y="60249"/>
                  </a:lnTo>
                  <a:lnTo>
                    <a:pt x="3683721" y="60249"/>
                  </a:lnTo>
                  <a:lnTo>
                    <a:pt x="654131" y="4466910"/>
                  </a:lnTo>
                  <a:lnTo>
                    <a:pt x="163532" y="446691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tmlTextBox 2"/>
          <p:cNvSpPr/>
          <p:nvPr/>
        </p:nvSpPr>
        <p:spPr>
          <a:xfrm>
            <a:off x="595788" y="431482"/>
            <a:ext cx="7952422" cy="508635"/>
          </a:xfrm>
          <a:custGeom>
            <a:avLst/>
            <a:gdLst/>
            <a:ahLst/>
            <a:cxnLst/>
            <a:rect l="0" t="0" r="7952422" b="508635"/>
            <a:pathLst>
              <a:path w="7952422" h="508635">
                <a:moveTo>
                  <a:pt x="101600" y="0"/>
                </a:moveTo>
                <a:lnTo>
                  <a:pt x="7850822" y="0"/>
                </a:lnTo>
                <a:arcTo wR="101600" hR="101600" stAng="-5400000" swAng="5400000"/>
                <a:lnTo>
                  <a:pt x="7952422" y="407035"/>
                </a:lnTo>
                <a:arcTo wR="101600" hR="101600" stAng="0" swAng="5400000"/>
                <a:lnTo>
                  <a:pt x="101600" y="508635"/>
                </a:lnTo>
                <a:arcTo wR="101600" hR="101600" stAng="5400000" swAng="5400000"/>
                <a:lnTo>
                  <a:pt x="0" y="101600"/>
                </a:lnTo>
                <a:arcTo wR="101600" hR="101600" stAng="10800000" swAng="5400000"/>
                <a:close/>
              </a:path>
            </a:pathLst>
          </a:cu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indent="-180000">
              <a:lnSpc>
                <a:spcPct val="115000"/>
              </a:lnSpc>
            </a:pPr>
            <a:r>
              <a:rPr sz="1705" b="1">
                <a:latin typeface="Verdana"/>
                <a:ea typeface="Verdana"/>
              </a:rPr>
              <a:t>Program topline: collection scale is real, but end-to-end control is incomplete</a:t>
            </a:r>
          </a:p>
        </p:txBody>
      </p:sp>
      <p:grpSp>
        <p:nvGrpSpPr>
          <p:cNvPr id="3" name="SmartLayout 3"/>
          <p:cNvGrpSpPr/>
          <p:nvPr/>
        </p:nvGrpSpPr>
        <p:grpSpPr>
          <a:xfrm>
            <a:off x="550068" y="1243012"/>
            <a:ext cx="8043862" cy="1785937"/>
            <a:chOff x="0" y="0"/>
            <a:chExt cx="10725150" cy="2381250"/>
          </a:xfrm>
        </p:grpSpPr>
        <p:sp>
          <p:nvSpPr>
            <p:cNvPr id="4" name="Line 4"/>
            <p:cNvSpPr>
              <a:spLocks noGrp="1"/>
            </p:cNvSpPr>
            <p:nvPr/>
          </p:nvSpPr>
          <p:spPr>
            <a:xfrm>
              <a:off x="266700" y="247650"/>
              <a:ext cx="2419350" cy="1905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" name="Text 5"/>
            <p:cNvSpPr txBox="1"/>
            <p:nvPr/>
          </p:nvSpPr>
          <p:spPr>
            <a:xfrm>
              <a:off x="361950" y="433863"/>
              <a:ext cx="2904934" cy="24288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l"/>
              <a:r>
                <a:rPr lang="zh-CN" altLang="en-US" sz="956" b="1" i="0" dirty="0">
                  <a:solidFill>
                    <a:srgbClr val="1A1A2E"/>
                  </a:solidFill>
                </a:rPr>
                <a:t>Total e-waste generated</a:t>
              </a:r>
            </a:p>
          </p:txBody>
        </p:sp>
        <p:sp>
          <p:nvSpPr>
            <p:cNvPr id="6" name="Text 6"/>
            <p:cNvSpPr txBox="1"/>
            <p:nvPr/>
          </p:nvSpPr>
          <p:spPr>
            <a:xfrm>
              <a:off x="361950" y="905827"/>
              <a:ext cx="2273427" cy="4857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l"/>
              <a:r>
                <a:rPr lang="zh-CN" altLang="en-US" sz="1912" b="1" i="0" dirty="0">
                  <a:solidFill>
                    <a:srgbClr val="1F3A5F"/>
                  </a:solidFill>
                </a:rPr>
                <a:t>37.53M kg</a:t>
              </a:r>
            </a:p>
          </p:txBody>
        </p:sp>
        <p:sp>
          <p:nvSpPr>
            <p:cNvPr id="7" name="Text 7"/>
            <p:cNvSpPr txBox="1"/>
            <p:nvPr/>
          </p:nvSpPr>
          <p:spPr>
            <a:xfrm>
              <a:off x="361950" y="1617345"/>
              <a:ext cx="3120389" cy="3143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l"/>
              <a:r>
                <a:rPr lang="zh-CN" altLang="en-US" sz="675" b="0" i="0" dirty="0">
                  <a:solidFill>
                    <a:srgbClr val="1A1A2E"/>
                  </a:solidFill>
                </a:rPr>
                <a:t>Total across 12 districts from Gene</a:t>
              </a:r>
            </a:p>
            <a:p>
              <a:pPr algn="l"/>
              <a:r>
                <a:rPr lang="zh-CN" altLang="en-US" sz="675" b="0" i="0" dirty="0">
                  <a:solidFill>
                    <a:srgbClr val="1A1A2E"/>
                  </a:solidFill>
                </a:rPr>
                <a:t>ration Inventory.</a:t>
              </a:r>
            </a:p>
          </p:txBody>
        </p:sp>
        <p:sp>
          <p:nvSpPr>
            <p:cNvPr id="8" name="Line 8"/>
            <p:cNvSpPr>
              <a:spLocks noGrp="1"/>
            </p:cNvSpPr>
            <p:nvPr/>
          </p:nvSpPr>
          <p:spPr>
            <a:xfrm>
              <a:off x="2857500" y="247650"/>
              <a:ext cx="2419350" cy="1905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Text 9"/>
            <p:cNvSpPr txBox="1"/>
            <p:nvPr/>
          </p:nvSpPr>
          <p:spPr>
            <a:xfrm>
              <a:off x="2952750" y="433863"/>
              <a:ext cx="2904934" cy="24288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l"/>
              <a:r>
                <a:rPr lang="zh-CN" altLang="en-US" sz="956" b="1" i="0" dirty="0">
                  <a:solidFill>
                    <a:srgbClr val="1A1A2E"/>
                  </a:solidFill>
                </a:rPr>
                <a:t>Total e-waste collected</a:t>
              </a:r>
            </a:p>
          </p:txBody>
        </p:sp>
        <p:sp>
          <p:nvSpPr>
            <p:cNvPr id="10" name="Text 10"/>
            <p:cNvSpPr txBox="1"/>
            <p:nvPr/>
          </p:nvSpPr>
          <p:spPr>
            <a:xfrm>
              <a:off x="2952750" y="905827"/>
              <a:ext cx="2273427" cy="4857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l"/>
              <a:r>
                <a:rPr lang="zh-CN" altLang="en-US" sz="1912" b="1" i="0" dirty="0">
                  <a:solidFill>
                    <a:srgbClr val="1F3A5F"/>
                  </a:solidFill>
                </a:rPr>
                <a:t>24.39M kg</a:t>
              </a:r>
            </a:p>
          </p:txBody>
        </p:sp>
        <p:sp>
          <p:nvSpPr>
            <p:cNvPr id="11" name="Text 11"/>
            <p:cNvSpPr txBox="1"/>
            <p:nvPr/>
          </p:nvSpPr>
          <p:spPr>
            <a:xfrm>
              <a:off x="2952750" y="1617345"/>
              <a:ext cx="2852927" cy="1714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l"/>
              <a:r>
                <a:rPr lang="zh-CN" altLang="en-US" sz="675" b="0" i="0" dirty="0">
                  <a:solidFill>
                    <a:srgbClr val="1A1A2E"/>
                  </a:solidFill>
                </a:rPr>
                <a:t>About 65.0% collection coverage.</a:t>
              </a:r>
            </a:p>
          </p:txBody>
        </p:sp>
        <p:sp>
          <p:nvSpPr>
            <p:cNvPr id="12" name="Line 12"/>
            <p:cNvSpPr>
              <a:spLocks noGrp="1"/>
            </p:cNvSpPr>
            <p:nvPr/>
          </p:nvSpPr>
          <p:spPr>
            <a:xfrm>
              <a:off x="5448300" y="247650"/>
              <a:ext cx="2419350" cy="1905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Text 13"/>
            <p:cNvSpPr txBox="1"/>
            <p:nvPr/>
          </p:nvSpPr>
          <p:spPr>
            <a:xfrm>
              <a:off x="5543550" y="433863"/>
              <a:ext cx="1515618" cy="24288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l"/>
              <a:r>
                <a:rPr lang="zh-CN" altLang="en-US" sz="956" b="1" i="0" dirty="0">
                  <a:solidFill>
                    <a:srgbClr val="1A1A2E"/>
                  </a:solidFill>
                </a:rPr>
                <a:t>EPR achieved</a:t>
              </a:r>
            </a:p>
          </p:txBody>
        </p:sp>
        <p:sp>
          <p:nvSpPr>
            <p:cNvPr id="14" name="Text 14"/>
            <p:cNvSpPr txBox="1"/>
            <p:nvPr/>
          </p:nvSpPr>
          <p:spPr>
            <a:xfrm>
              <a:off x="5543550" y="905827"/>
              <a:ext cx="2273427" cy="4857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l"/>
              <a:r>
                <a:rPr lang="zh-CN" altLang="en-US" sz="1912" b="1" i="0" dirty="0">
                  <a:solidFill>
                    <a:srgbClr val="1F3A5F"/>
                  </a:solidFill>
                </a:rPr>
                <a:t>20.64M kg</a:t>
              </a:r>
            </a:p>
          </p:txBody>
        </p:sp>
        <p:sp>
          <p:nvSpPr>
            <p:cNvPr id="15" name="Text 15"/>
            <p:cNvSpPr txBox="1"/>
            <p:nvPr/>
          </p:nvSpPr>
          <p:spPr>
            <a:xfrm>
              <a:off x="5543550" y="1617345"/>
              <a:ext cx="2942081" cy="1714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l"/>
              <a:r>
                <a:rPr lang="zh-CN" altLang="en-US" sz="675" b="0" i="0" dirty="0">
                  <a:solidFill>
                    <a:srgbClr val="1A1A2E"/>
                  </a:solidFill>
                </a:rPr>
                <a:t>About 91.7% of stated EPR target.</a:t>
              </a:r>
            </a:p>
          </p:txBody>
        </p:sp>
        <p:sp>
          <p:nvSpPr>
            <p:cNvPr id="16" name="Line 16"/>
            <p:cNvSpPr>
              <a:spLocks noGrp="1"/>
            </p:cNvSpPr>
            <p:nvPr/>
          </p:nvSpPr>
          <p:spPr>
            <a:xfrm>
              <a:off x="8039100" y="247650"/>
              <a:ext cx="2419350" cy="1905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Text 17"/>
            <p:cNvSpPr txBox="1"/>
            <p:nvPr/>
          </p:nvSpPr>
          <p:spPr>
            <a:xfrm>
              <a:off x="8134350" y="433863"/>
              <a:ext cx="3031236" cy="43338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l"/>
              <a:r>
                <a:rPr lang="zh-CN" altLang="en-US" sz="956" b="1" i="0" dirty="0">
                  <a:solidFill>
                    <a:srgbClr val="1A1A2E"/>
                  </a:solidFill>
                </a:rPr>
                <a:t>Installed recycling capa</a:t>
              </a:r>
            </a:p>
            <a:p>
              <a:pPr algn="l"/>
              <a:r>
                <a:rPr lang="zh-CN" altLang="en-US" sz="956" b="1" i="0" dirty="0">
                  <a:solidFill>
                    <a:srgbClr val="1A1A2E"/>
                  </a:solidFill>
                </a:rPr>
                <a:t>city</a:t>
              </a:r>
            </a:p>
          </p:txBody>
        </p:sp>
        <p:sp>
          <p:nvSpPr>
            <p:cNvPr id="18" name="Text 18"/>
            <p:cNvSpPr txBox="1"/>
            <p:nvPr/>
          </p:nvSpPr>
          <p:spPr>
            <a:xfrm>
              <a:off x="8134350" y="905827"/>
              <a:ext cx="3031236" cy="828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l"/>
              <a:r>
                <a:rPr lang="zh-CN" altLang="en-US" sz="1912" b="1" i="0" dirty="0">
                  <a:solidFill>
                    <a:srgbClr val="1F3A5F"/>
                  </a:solidFill>
                </a:rPr>
                <a:t>136.9k tonne</a:t>
              </a:r>
            </a:p>
            <a:p>
              <a:pPr algn="l"/>
              <a:r>
                <a:rPr lang="zh-CN" altLang="en-US" sz="1912" b="1" i="0" dirty="0">
                  <a:solidFill>
                    <a:srgbClr val="1F3A5F"/>
                  </a:solidFill>
                </a:rPr>
                <a:t>s/year</a:t>
              </a:r>
            </a:p>
          </p:txBody>
        </p:sp>
        <p:sp>
          <p:nvSpPr>
            <p:cNvPr id="19" name="Text 19"/>
            <p:cNvSpPr txBox="1"/>
            <p:nvPr/>
          </p:nvSpPr>
          <p:spPr>
            <a:xfrm>
              <a:off x="8134350" y="1617345"/>
              <a:ext cx="3031235" cy="3143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l"/>
              <a:r>
                <a:rPr lang="zh-CN" altLang="en-US" sz="675" b="0" i="0" dirty="0">
                  <a:solidFill>
                    <a:srgbClr val="1A1A2E"/>
                  </a:solidFill>
                </a:rPr>
                <a:t>Reported authorized infrastructure</a:t>
              </a:r>
            </a:p>
            <a:p>
              <a:pPr algn="l"/>
              <a:r>
                <a:rPr lang="zh-CN" altLang="en-US" sz="675" b="0" i="0" dirty="0">
                  <a:solidFill>
                    <a:srgbClr val="1A1A2E"/>
                  </a:solidFill>
                </a:rPr>
                <a:t>base.</a:t>
              </a:r>
            </a:p>
          </p:txBody>
        </p:sp>
      </p:grpSp>
      <p:sp>
        <p:nvSpPr>
          <p:cNvPr id="20" name="HtmlTextBox 20"/>
          <p:cNvSpPr/>
          <p:nvPr/>
        </p:nvSpPr>
        <p:spPr>
          <a:xfrm>
            <a:off x="595788" y="3546157"/>
            <a:ext cx="7952422" cy="751522"/>
          </a:xfrm>
          <a:custGeom>
            <a:avLst/>
            <a:gdLst/>
            <a:ahLst/>
            <a:cxnLst/>
            <a:rect l="0" t="0" r="7952422" b="751522"/>
            <a:pathLst>
              <a:path w="7952422" h="751522">
                <a:moveTo>
                  <a:pt x="101600" y="0"/>
                </a:moveTo>
                <a:lnTo>
                  <a:pt x="7850822" y="0"/>
                </a:lnTo>
                <a:arcTo wR="101600" hR="101600" stAng="-5400000" swAng="5400000"/>
                <a:lnTo>
                  <a:pt x="7952422" y="649922"/>
                </a:lnTo>
                <a:arcTo wR="101600" hR="101600" stAng="0" swAng="5400000"/>
                <a:lnTo>
                  <a:pt x="101600" y="751522"/>
                </a:lnTo>
                <a:arcTo wR="101600" hR="101600" stAng="5400000" swAng="5400000"/>
                <a:lnTo>
                  <a:pt x="0" y="101600"/>
                </a:lnTo>
                <a:arcTo wR="101600" hR="101600" stAng="10800000" swAng="5400000"/>
                <a:close/>
              </a:path>
            </a:pathLst>
          </a:cu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indent="-180000">
              <a:lnSpc>
                <a:spcPct val="115000"/>
              </a:lnSpc>
            </a:pPr>
            <a:r>
              <a:rPr sz="1100" b="1">
                <a:latin typeface="Verdana"/>
                <a:ea typeface="Verdana"/>
              </a:rPr>
              <a:t>Evidence</a:t>
            </a:r>
            <a:r>
              <a:rPr sz="1100">
                <a:latin typeface="Verdana"/>
                <a:ea typeface="Verdana"/>
              </a:rPr>
              <a:t> The system shows meaningful collection scale, but downstream conversion is still weak relative to the infrastructure and risk profile.</a:t>
            </a:r>
          </a:p>
          <a:p>
            <a:pPr indent="-180000">
              <a:lnSpc>
                <a:spcPct val="115000"/>
              </a:lnSpc>
            </a:pPr>
            <a:r>
              <a:rPr sz="1100" b="1">
                <a:latin typeface="Verdana"/>
                <a:ea typeface="Verdana"/>
              </a:rPr>
              <a:t>Root cause</a:t>
            </a:r>
            <a:r>
              <a:rPr sz="1100">
                <a:latin typeface="Verdana"/>
                <a:ea typeface="Verdana"/>
              </a:rPr>
              <a:t> Reported performance is stronger on collection and target reporting than on verified processing, hotspot formalization, and environmental control.</a:t>
            </a:r>
          </a:p>
          <a:p>
            <a:pPr indent="-180000">
              <a:lnSpc>
                <a:spcPct val="115000"/>
              </a:lnSpc>
            </a:pPr>
            <a:r>
              <a:rPr sz="1100" b="1">
                <a:latin typeface="Verdana"/>
                <a:ea typeface="Verdana"/>
              </a:rPr>
              <a:t>Recommendation</a:t>
            </a:r>
            <a:r>
              <a:rPr sz="1100">
                <a:latin typeface="Verdana"/>
                <a:ea typeface="Verdana"/>
              </a:rPr>
              <a:t> Shift management reviews from topline collection alone to end-to-end control metrics covering processing, formalization, and safeguards.</a:t>
            </a:r>
          </a:p>
        </p:txBody>
      </p:sp>
      <p:sp>
        <p:nvSpPr>
          <p:cNvPr id="21" name="HtmlTextBox 21"/>
          <p:cNvSpPr/>
          <p:nvPr/>
        </p:nvSpPr>
        <p:spPr>
          <a:xfrm>
            <a:off x="595788" y="4689157"/>
            <a:ext cx="7952422" cy="80010"/>
          </a:xfrm>
          <a:custGeom>
            <a:avLst/>
            <a:gdLst/>
            <a:ahLst/>
            <a:cxnLst/>
            <a:rect l="0" t="0" r="7952422" b="80010"/>
            <a:pathLst>
              <a:path w="7952422" h="80010">
                <a:moveTo>
                  <a:pt x="101600" y="0"/>
                </a:moveTo>
                <a:lnTo>
                  <a:pt x="7850822" y="0"/>
                </a:lnTo>
                <a:arcTo wR="101600" hR="101600" stAng="-5400000" swAng="5400000"/>
                <a:lnTo>
                  <a:pt x="7952422" y="-21590"/>
                </a:lnTo>
                <a:arcTo wR="101600" hR="101600" stAng="0" swAng="5400000"/>
                <a:lnTo>
                  <a:pt x="101600" y="80010"/>
                </a:lnTo>
                <a:arcTo wR="101600" hR="101600" stAng="5400000" swAng="5400000"/>
                <a:lnTo>
                  <a:pt x="0" y="101600"/>
                </a:lnTo>
                <a:arcTo wR="101600" hR="101600" stAng="10800000" swAng="5400000"/>
                <a:close/>
              </a:path>
            </a:pathLst>
          </a:cu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indent="-180000">
              <a:lnSpc>
                <a:spcPct val="115000"/>
              </a:lnSpc>
            </a:pPr>
            <a:r>
              <a:rPr sz="550">
                <a:latin typeface="Verdana"/>
                <a:ea typeface="Verdana"/>
              </a:rPr>
              <a:t>Source: Generation Inventory, Collection Log, and Recycling Infrastructure program tables; totals shown from uploaded scorecard summary.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tmlTextBox 2"/>
          <p:cNvSpPr/>
          <p:nvPr/>
        </p:nvSpPr>
        <p:spPr>
          <a:xfrm>
            <a:off x="595788" y="431482"/>
            <a:ext cx="7952422" cy="508635"/>
          </a:xfrm>
          <a:custGeom>
            <a:avLst/>
            <a:gdLst/>
            <a:ahLst/>
            <a:cxnLst/>
            <a:rect l="0" t="0" r="7952422" b="508635"/>
            <a:pathLst>
              <a:path w="7952422" h="508635">
                <a:moveTo>
                  <a:pt x="101600" y="0"/>
                </a:moveTo>
                <a:lnTo>
                  <a:pt x="7850822" y="0"/>
                </a:lnTo>
                <a:arcTo wR="101600" hR="101600" stAng="-5400000" swAng="5400000"/>
                <a:lnTo>
                  <a:pt x="7952422" y="407035"/>
                </a:lnTo>
                <a:arcTo wR="101600" hR="101600" stAng="0" swAng="5400000"/>
                <a:lnTo>
                  <a:pt x="101600" y="508635"/>
                </a:lnTo>
                <a:arcTo wR="101600" hR="101600" stAng="5400000" swAng="5400000"/>
                <a:lnTo>
                  <a:pt x="0" y="101600"/>
                </a:lnTo>
                <a:arcTo wR="101600" hR="101600" stAng="10800000" swAng="5400000"/>
                <a:close/>
              </a:path>
            </a:pathLst>
          </a:cu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indent="-180000">
              <a:lnSpc>
                <a:spcPct val="115000"/>
              </a:lnSpc>
            </a:pPr>
            <a:r>
              <a:rPr sz="1705" b="1">
                <a:latin typeface="Verdana"/>
                <a:ea typeface="Verdana"/>
              </a:rPr>
              <a:t>Data Methodology &amp; Definitions</a:t>
            </a:r>
          </a:p>
        </p:txBody>
      </p:sp>
      <p:grpSp>
        <p:nvGrpSpPr>
          <p:cNvPr id="3" name="SmartLayout 3"/>
          <p:cNvGrpSpPr/>
          <p:nvPr/>
        </p:nvGrpSpPr>
        <p:grpSpPr>
          <a:xfrm>
            <a:off x="550068" y="1185862"/>
            <a:ext cx="8043862" cy="3071812"/>
            <a:chOff x="0" y="0"/>
            <a:chExt cx="10725150" cy="4095750"/>
          </a:xfrm>
        </p:grpSpPr>
        <p:sp>
          <p:nvSpPr>
            <p:cNvPr id="4" name="Line 4"/>
            <p:cNvSpPr>
              <a:spLocks noGrp="1"/>
            </p:cNvSpPr>
            <p:nvPr/>
          </p:nvSpPr>
          <p:spPr>
            <a:xfrm>
              <a:off x="533400" y="838200"/>
              <a:ext cx="9658350" cy="9525"/>
            </a:xfrm>
            <a:prstGeom prst="rect">
              <a:avLst/>
            </a:prstGeom>
            <a:solidFill>
              <a:srgbClr val="86A99B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" name="Text 5"/>
            <p:cNvSpPr txBox="1"/>
            <p:nvPr/>
          </p:nvSpPr>
          <p:spPr>
            <a:xfrm>
              <a:off x="533400" y="888206"/>
              <a:ext cx="1337310" cy="21431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l"/>
              <a:r>
                <a:rPr lang="zh-CN" altLang="en-US" sz="843" b="1" i="0" dirty="0">
                  <a:solidFill>
                    <a:srgbClr val="6B7280"/>
                  </a:solidFill>
                </a:rPr>
                <a:t>Data sources</a:t>
              </a:r>
            </a:p>
          </p:txBody>
        </p:sp>
        <p:sp>
          <p:nvSpPr>
            <p:cNvPr id="6" name="Text 6"/>
            <p:cNvSpPr txBox="1"/>
            <p:nvPr/>
          </p:nvSpPr>
          <p:spPr>
            <a:xfrm>
              <a:off x="2924175" y="880110"/>
              <a:ext cx="9509759" cy="4381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l"/>
              <a:r>
                <a:rPr lang="zh-CN" altLang="en-US" sz="900" b="0" i="0" dirty="0">
                  <a:solidFill>
                    <a:srgbClr val="1A1A2E"/>
                  </a:solidFill>
                </a:rPr>
                <a:t>1_Generation_Inventory, 2_Collection_Log, 3_Recycling_Infrastructure, Compliance</a:t>
              </a:r>
            </a:p>
            <a:p>
              <a:pPr algn="l"/>
              <a:r>
                <a:rPr lang="zh-CN" altLang="en-US" sz="900" b="0" i="0" dirty="0">
                  <a:solidFill>
                    <a:srgbClr val="1A1A2E"/>
                  </a:solidFill>
                </a:rPr>
                <a:t>Tracker, 5 Informal Sector, EnvHealthMon2026, 7 Awareness Prog.</a:t>
              </a:r>
            </a:p>
          </p:txBody>
        </p:sp>
        <p:sp>
          <p:nvSpPr>
            <p:cNvPr id="7" name="Line 7"/>
            <p:cNvSpPr>
              <a:spLocks noGrp="1"/>
            </p:cNvSpPr>
            <p:nvPr/>
          </p:nvSpPr>
          <p:spPr>
            <a:xfrm>
              <a:off x="533400" y="1438275"/>
              <a:ext cx="9658350" cy="9525"/>
            </a:xfrm>
            <a:prstGeom prst="rect">
              <a:avLst/>
            </a:prstGeom>
            <a:solidFill>
              <a:srgbClr val="86A99B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" name="Text 8"/>
            <p:cNvSpPr txBox="1"/>
            <p:nvPr/>
          </p:nvSpPr>
          <p:spPr>
            <a:xfrm>
              <a:off x="533400" y="1488281"/>
              <a:ext cx="891540" cy="21431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l"/>
              <a:r>
                <a:rPr lang="zh-CN" altLang="en-US" sz="843" b="1" i="0" dirty="0">
                  <a:solidFill>
                    <a:srgbClr val="6B7280"/>
                  </a:solidFill>
                </a:rPr>
                <a:t>Coverage</a:t>
              </a:r>
            </a:p>
          </p:txBody>
        </p:sp>
        <p:sp>
          <p:nvSpPr>
            <p:cNvPr id="9" name="Text 9"/>
            <p:cNvSpPr txBox="1"/>
            <p:nvPr/>
          </p:nvSpPr>
          <p:spPr>
            <a:xfrm>
              <a:off x="2924175" y="1480185"/>
              <a:ext cx="10104119" cy="4381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l"/>
              <a:r>
                <a:rPr lang="zh-CN" altLang="en-US" sz="900" b="0" i="0" dirty="0">
                  <a:solidFill>
                    <a:srgbClr val="1A1A2E"/>
                  </a:solidFill>
                </a:rPr>
                <a:t>12 districts for generation and collection; 10 recycler rows; 6 hotspots; 6 monitored</a:t>
              </a:r>
            </a:p>
            <a:p>
              <a:pPr algn="l"/>
              <a:r>
                <a:rPr lang="zh-CN" altLang="en-US" sz="900" b="0" i="0" dirty="0">
                  <a:solidFill>
                    <a:srgbClr val="1A1A2E"/>
                  </a:solidFill>
                </a:rPr>
                <a:t>sites; 8 awareness programs.</a:t>
              </a:r>
            </a:p>
          </p:txBody>
        </p:sp>
        <p:sp>
          <p:nvSpPr>
            <p:cNvPr id="10" name="Line 10"/>
            <p:cNvSpPr>
              <a:spLocks noGrp="1"/>
            </p:cNvSpPr>
            <p:nvPr/>
          </p:nvSpPr>
          <p:spPr>
            <a:xfrm>
              <a:off x="533400" y="2038350"/>
              <a:ext cx="9658350" cy="9525"/>
            </a:xfrm>
            <a:prstGeom prst="rect">
              <a:avLst/>
            </a:prstGeom>
            <a:solidFill>
              <a:srgbClr val="86A99B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Text 11"/>
            <p:cNvSpPr txBox="1"/>
            <p:nvPr/>
          </p:nvSpPr>
          <p:spPr>
            <a:xfrm>
              <a:off x="533400" y="2088356"/>
              <a:ext cx="1114425" cy="21431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l"/>
              <a:r>
                <a:rPr lang="zh-CN" altLang="en-US" sz="843" b="1" i="0" dirty="0">
                  <a:solidFill>
                    <a:srgbClr val="6B7280"/>
                  </a:solidFill>
                </a:rPr>
                <a:t>Time range</a:t>
              </a:r>
            </a:p>
          </p:txBody>
        </p:sp>
        <p:sp>
          <p:nvSpPr>
            <p:cNvPr id="12" name="Text 12"/>
            <p:cNvSpPr txBox="1"/>
            <p:nvPr/>
          </p:nvSpPr>
          <p:spPr>
            <a:xfrm>
              <a:off x="2924175" y="2080260"/>
              <a:ext cx="9509759" cy="4381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l"/>
              <a:r>
                <a:rPr lang="zh-CN" altLang="en-US" sz="900" b="0" i="0" dirty="0">
                  <a:solidFill>
                    <a:srgbClr val="1A1A2E"/>
                  </a:solidFill>
                </a:rPr>
                <a:t>Mostly single-period operational snapshots; dated records run from 2025-12-23 to</a:t>
              </a:r>
            </a:p>
            <a:p>
              <a:pPr algn="l"/>
              <a:r>
                <a:rPr lang="zh-CN" altLang="en-US" sz="900" b="0" i="0" dirty="0">
                  <a:solidFill>
                    <a:srgbClr val="1A1A2E"/>
                  </a:solidFill>
                </a:rPr>
                <a:t>2026-03-02.</a:t>
              </a:r>
            </a:p>
          </p:txBody>
        </p:sp>
        <p:sp>
          <p:nvSpPr>
            <p:cNvPr id="13" name="Line 13"/>
            <p:cNvSpPr>
              <a:spLocks noGrp="1"/>
            </p:cNvSpPr>
            <p:nvPr/>
          </p:nvSpPr>
          <p:spPr>
            <a:xfrm>
              <a:off x="533400" y="2638425"/>
              <a:ext cx="9658350" cy="9525"/>
            </a:xfrm>
            <a:prstGeom prst="rect">
              <a:avLst/>
            </a:prstGeom>
            <a:solidFill>
              <a:srgbClr val="86A99B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Text 14"/>
            <p:cNvSpPr txBox="1"/>
            <p:nvPr/>
          </p:nvSpPr>
          <p:spPr>
            <a:xfrm>
              <a:off x="533400" y="2688431"/>
              <a:ext cx="1783080" cy="21431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l"/>
              <a:r>
                <a:rPr lang="zh-CN" altLang="en-US" sz="843" b="1" i="0" dirty="0">
                  <a:solidFill>
                    <a:srgbClr val="6B7280"/>
                  </a:solidFill>
                </a:rPr>
                <a:t>Unit definitions</a:t>
              </a:r>
            </a:p>
          </p:txBody>
        </p:sp>
        <p:sp>
          <p:nvSpPr>
            <p:cNvPr id="15" name="Text 15"/>
            <p:cNvSpPr txBox="1"/>
            <p:nvPr/>
          </p:nvSpPr>
          <p:spPr>
            <a:xfrm>
              <a:off x="2924175" y="2680335"/>
              <a:ext cx="820216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l"/>
              <a:r>
                <a:rPr lang="zh-CN" altLang="en-US" sz="900" b="0" i="0" dirty="0">
                  <a:solidFill>
                    <a:srgbClr val="1A1A2E"/>
                  </a:solidFill>
                </a:rPr>
                <a:t>Waste metrics in kilograms or tonnes as labeled in each source sheet.</a:t>
              </a:r>
            </a:p>
          </p:txBody>
        </p:sp>
        <p:sp>
          <p:nvSpPr>
            <p:cNvPr id="16" name="Line 16"/>
            <p:cNvSpPr>
              <a:spLocks noGrp="1"/>
            </p:cNvSpPr>
            <p:nvPr/>
          </p:nvSpPr>
          <p:spPr>
            <a:xfrm>
              <a:off x="533400" y="3238500"/>
              <a:ext cx="9658350" cy="9525"/>
            </a:xfrm>
            <a:prstGeom prst="rect">
              <a:avLst/>
            </a:prstGeom>
            <a:solidFill>
              <a:srgbClr val="86A99B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Text 17"/>
            <p:cNvSpPr txBox="1"/>
            <p:nvPr/>
          </p:nvSpPr>
          <p:spPr>
            <a:xfrm>
              <a:off x="533400" y="3288506"/>
              <a:ext cx="2228850" cy="21431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l"/>
              <a:r>
                <a:rPr lang="zh-CN" altLang="en-US" sz="843" b="1" i="0" dirty="0">
                  <a:solidFill>
                    <a:srgbClr val="6B7280"/>
                  </a:solidFill>
                </a:rPr>
                <a:t>Confidence statement</a:t>
              </a:r>
            </a:p>
          </p:txBody>
        </p:sp>
        <p:sp>
          <p:nvSpPr>
            <p:cNvPr id="18" name="Text 18"/>
            <p:cNvSpPr txBox="1"/>
            <p:nvPr/>
          </p:nvSpPr>
          <p:spPr>
            <a:xfrm>
              <a:off x="2924175" y="3280410"/>
              <a:ext cx="9866375" cy="4381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l"/>
              <a:r>
                <a:rPr lang="zh-CN" altLang="en-US" sz="900" b="0" i="0" dirty="0">
                  <a:solidFill>
                    <a:srgbClr val="1A1A2E"/>
                  </a:solidFill>
                </a:rPr>
                <a:t>Current-state confidence: medium; trend confidence: low; root-cause confidence:</a:t>
              </a:r>
            </a:p>
            <a:p>
              <a:pPr algn="l"/>
              <a:r>
                <a:rPr lang="zh-CN" altLang="en-US" sz="900" b="0" i="0" dirty="0">
                  <a:solidFill>
                    <a:srgbClr val="1A1A2E"/>
                  </a:solidFill>
                </a:rPr>
                <a:t>medium-low because several modules are snapshots and some remarks are illustrative.</a:t>
              </a:r>
            </a:p>
          </p:txBody>
        </p:sp>
      </p:grpSp>
      <p:sp>
        <p:nvSpPr>
          <p:cNvPr id="19" name="HtmlTextBox 19"/>
          <p:cNvSpPr/>
          <p:nvPr/>
        </p:nvSpPr>
        <p:spPr>
          <a:xfrm>
            <a:off x="595788" y="4531995"/>
            <a:ext cx="7952422" cy="80010"/>
          </a:xfrm>
          <a:custGeom>
            <a:avLst/>
            <a:gdLst/>
            <a:ahLst/>
            <a:cxnLst/>
            <a:rect l="0" t="0" r="7952422" b="80010"/>
            <a:pathLst>
              <a:path w="7952422" h="80010">
                <a:moveTo>
                  <a:pt x="101600" y="0"/>
                </a:moveTo>
                <a:lnTo>
                  <a:pt x="7850822" y="0"/>
                </a:lnTo>
                <a:arcTo wR="101600" hR="101600" stAng="-5400000" swAng="5400000"/>
                <a:lnTo>
                  <a:pt x="7952422" y="-21590"/>
                </a:lnTo>
                <a:arcTo wR="101600" hR="101600" stAng="0" swAng="5400000"/>
                <a:lnTo>
                  <a:pt x="101600" y="80010"/>
                </a:lnTo>
                <a:arcTo wR="101600" hR="101600" stAng="5400000" swAng="5400000"/>
                <a:lnTo>
                  <a:pt x="0" y="101600"/>
                </a:lnTo>
                <a:arcTo wR="101600" hR="101600" stAng="10800000" swAng="5400000"/>
                <a:close/>
              </a:path>
            </a:pathLst>
          </a:cu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indent="-180000">
              <a:lnSpc>
                <a:spcPct val="115000"/>
              </a:lnSpc>
            </a:pPr>
            <a:r>
              <a:rPr sz="550">
                <a:latin typeface="Verdana"/>
                <a:ea typeface="Verdana"/>
              </a:rPr>
              <a:t>Note: Several sheets include illustrative remarks and missing processed values for some recycler rows. Cross-period trend claims should therefore be treated cautiously.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tmlTextBox 2"/>
          <p:cNvSpPr/>
          <p:nvPr/>
        </p:nvSpPr>
        <p:spPr>
          <a:xfrm>
            <a:off x="595788" y="431482"/>
            <a:ext cx="7952422" cy="508635"/>
          </a:xfrm>
          <a:custGeom>
            <a:avLst/>
            <a:gdLst/>
            <a:ahLst/>
            <a:cxnLst/>
            <a:rect l="0" t="0" r="7952422" b="508635"/>
            <a:pathLst>
              <a:path w="7952422" h="508635">
                <a:moveTo>
                  <a:pt x="101600" y="0"/>
                </a:moveTo>
                <a:lnTo>
                  <a:pt x="7850822" y="0"/>
                </a:lnTo>
                <a:arcTo wR="101600" hR="101600" stAng="-5400000" swAng="5400000"/>
                <a:lnTo>
                  <a:pt x="7952422" y="407035"/>
                </a:lnTo>
                <a:arcTo wR="101600" hR="101600" stAng="0" swAng="5400000"/>
                <a:lnTo>
                  <a:pt x="101600" y="508635"/>
                </a:lnTo>
                <a:arcTo wR="101600" hR="101600" stAng="5400000" swAng="5400000"/>
                <a:lnTo>
                  <a:pt x="0" y="101600"/>
                </a:lnTo>
                <a:arcTo wR="101600" hR="101600" stAng="10800000" swAng="5400000"/>
                <a:close/>
              </a:path>
            </a:pathLst>
          </a:cu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indent="-180000">
              <a:lnSpc>
                <a:spcPct val="115000"/>
              </a:lnSpc>
            </a:pPr>
            <a:r>
              <a:rPr sz="1705" b="1">
                <a:latin typeface="Verdana"/>
                <a:ea typeface="Verdana"/>
              </a:rPr>
              <a:t>Collection scale is meaningful, but it is concentrated in a few districts and does not prove full system control</a:t>
            </a:r>
          </a:p>
        </p:txBody>
      </p:sp>
      <p:graphicFrame>
        <p:nvGraphicFramePr>
          <p:cNvPr id="3" name="Chart 3"/>
          <p:cNvGraphicFramePr/>
          <p:nvPr/>
        </p:nvGraphicFramePr>
        <p:xfrm>
          <a:off x="595788" y="1403032"/>
          <a:ext cx="3623310" cy="21659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Chart 4"/>
          <p:cNvGraphicFramePr/>
          <p:nvPr/>
        </p:nvGraphicFramePr>
        <p:xfrm>
          <a:off x="4924901" y="1403032"/>
          <a:ext cx="3623310" cy="21659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" name="HtmlTextBox 5"/>
          <p:cNvSpPr/>
          <p:nvPr/>
        </p:nvSpPr>
        <p:spPr>
          <a:xfrm>
            <a:off x="595788" y="3960495"/>
            <a:ext cx="7952422" cy="408622"/>
          </a:xfrm>
          <a:custGeom>
            <a:avLst/>
            <a:gdLst/>
            <a:ahLst/>
            <a:cxnLst/>
            <a:rect l="0" t="0" r="7952422" b="408622"/>
            <a:pathLst>
              <a:path w="7952422" h="408622">
                <a:moveTo>
                  <a:pt x="101600" y="0"/>
                </a:moveTo>
                <a:lnTo>
                  <a:pt x="7850822" y="0"/>
                </a:lnTo>
                <a:arcTo wR="101600" hR="101600" stAng="-5400000" swAng="5400000"/>
                <a:lnTo>
                  <a:pt x="7952422" y="307022"/>
                </a:lnTo>
                <a:arcTo wR="101600" hR="101600" stAng="0" swAng="5400000"/>
                <a:lnTo>
                  <a:pt x="101600" y="408622"/>
                </a:lnTo>
                <a:arcTo wR="101600" hR="101600" stAng="5400000" swAng="5400000"/>
                <a:lnTo>
                  <a:pt x="0" y="101600"/>
                </a:lnTo>
                <a:arcTo wR="101600" hR="101600" stAng="10800000" swAng="5400000"/>
                <a:close/>
              </a:path>
            </a:pathLst>
          </a:cu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indent="-180000">
              <a:lnSpc>
                <a:spcPct val="115000"/>
              </a:lnSpc>
            </a:pPr>
            <a:r>
              <a:rPr sz="1100" b="1">
                <a:latin typeface="Verdana"/>
                <a:ea typeface="Verdana"/>
              </a:rPr>
              <a:t>Evidence</a:t>
            </a:r>
            <a:r>
              <a:rPr sz="1100">
                <a:latin typeface="Verdana"/>
                <a:ea typeface="Verdana"/>
              </a:rPr>
              <a:t> Bengaluru Urban alone contributes about 27.9% of total generated volume, while district collection rates are almost identical at roughly 65.0%.</a:t>
            </a:r>
          </a:p>
          <a:p>
            <a:pPr indent="-180000">
              <a:lnSpc>
                <a:spcPct val="115000"/>
              </a:lnSpc>
            </a:pPr>
            <a:r>
              <a:rPr sz="1100" b="1">
                <a:latin typeface="Verdana"/>
                <a:ea typeface="Verdana"/>
              </a:rPr>
              <a:t>Risk</a:t>
            </a:r>
            <a:r>
              <a:rPr sz="1100">
                <a:latin typeface="Verdana"/>
                <a:ea typeface="Verdana"/>
              </a:rPr>
              <a:t> The apparent uniformity suggests this module may be more useful for allocation reporting than for diagnosing operational variation across districts.</a:t>
            </a:r>
          </a:p>
        </p:txBody>
      </p:sp>
      <p:sp>
        <p:nvSpPr>
          <p:cNvPr id="6" name="HtmlTextBox 6"/>
          <p:cNvSpPr/>
          <p:nvPr/>
        </p:nvSpPr>
        <p:spPr>
          <a:xfrm>
            <a:off x="595788" y="4689157"/>
            <a:ext cx="7952422" cy="80010"/>
          </a:xfrm>
          <a:custGeom>
            <a:avLst/>
            <a:gdLst/>
            <a:ahLst/>
            <a:cxnLst/>
            <a:rect l="0" t="0" r="7952422" b="80010"/>
            <a:pathLst>
              <a:path w="7952422" h="80010">
                <a:moveTo>
                  <a:pt x="101600" y="0"/>
                </a:moveTo>
                <a:lnTo>
                  <a:pt x="7850822" y="0"/>
                </a:lnTo>
                <a:arcTo wR="101600" hR="101600" stAng="-5400000" swAng="5400000"/>
                <a:lnTo>
                  <a:pt x="7952422" y="-21590"/>
                </a:lnTo>
                <a:arcTo wR="101600" hR="101600" stAng="0" swAng="5400000"/>
                <a:lnTo>
                  <a:pt x="101600" y="80010"/>
                </a:lnTo>
                <a:arcTo wR="101600" hR="101600" stAng="5400000" swAng="5400000"/>
                <a:lnTo>
                  <a:pt x="0" y="101600"/>
                </a:lnTo>
                <a:arcTo wR="101600" hR="101600" stAng="10800000" swAng="5400000"/>
                <a:close/>
              </a:path>
            </a:pathLst>
          </a:cu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indent="-180000">
              <a:lnSpc>
                <a:spcPct val="115000"/>
              </a:lnSpc>
            </a:pPr>
            <a:r>
              <a:rPr sz="550">
                <a:latin typeface="Verdana"/>
                <a:ea typeface="Verdana"/>
              </a:rPr>
              <a:t>Source: user-provided district summary tables for generated e-waste share and collection rate.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tmlTextBox 2"/>
          <p:cNvSpPr/>
          <p:nvPr/>
        </p:nvSpPr>
        <p:spPr>
          <a:xfrm>
            <a:off x="595788" y="431482"/>
            <a:ext cx="7952422" cy="508635"/>
          </a:xfrm>
          <a:custGeom>
            <a:avLst/>
            <a:gdLst/>
            <a:ahLst/>
            <a:cxnLst/>
            <a:rect l="0" t="0" r="7952422" b="508635"/>
            <a:pathLst>
              <a:path w="7952422" h="508635">
                <a:moveTo>
                  <a:pt x="101600" y="0"/>
                </a:moveTo>
                <a:lnTo>
                  <a:pt x="7850822" y="0"/>
                </a:lnTo>
                <a:arcTo wR="101600" hR="101600" stAng="-5400000" swAng="5400000"/>
                <a:lnTo>
                  <a:pt x="7952422" y="407035"/>
                </a:lnTo>
                <a:arcTo wR="101600" hR="101600" stAng="0" swAng="5400000"/>
                <a:lnTo>
                  <a:pt x="101600" y="508635"/>
                </a:lnTo>
                <a:arcTo wR="101600" hR="101600" stAng="5400000" swAng="5400000"/>
                <a:lnTo>
                  <a:pt x="0" y="101600"/>
                </a:lnTo>
                <a:arcTo wR="101600" hR="101600" stAng="10800000" swAng="5400000"/>
                <a:close/>
              </a:path>
            </a:pathLst>
          </a:cu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indent="-180000">
              <a:lnSpc>
                <a:spcPct val="115000"/>
              </a:lnSpc>
            </a:pPr>
            <a:r>
              <a:rPr sz="1705" b="1">
                <a:latin typeface="Verdana"/>
                <a:ea typeface="Verdana"/>
              </a:rPr>
              <a:t>EPR target attainment looks strong on paper, but the metric has limited diagnostic value because variation is near zero</a:t>
            </a:r>
          </a:p>
        </p:txBody>
      </p:sp>
      <p:graphicFrame>
        <p:nvGraphicFramePr>
          <p:cNvPr id="3" name="Chart 3"/>
          <p:cNvGraphicFramePr/>
          <p:nvPr/>
        </p:nvGraphicFramePr>
        <p:xfrm>
          <a:off x="595788" y="1360170"/>
          <a:ext cx="5337810" cy="28517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HtmlTextBox 4"/>
          <p:cNvSpPr/>
          <p:nvPr/>
        </p:nvSpPr>
        <p:spPr>
          <a:xfrm>
            <a:off x="6439376" y="1360170"/>
            <a:ext cx="2108835" cy="2851785"/>
          </a:xfrm>
          <a:custGeom>
            <a:avLst/>
            <a:gdLst/>
            <a:ahLst/>
            <a:cxnLst/>
            <a:rect l="0" t="0" r="2108835" b="2851785"/>
            <a:pathLst>
              <a:path w="2108835" h="2851785">
                <a:moveTo>
                  <a:pt x="101600" y="0"/>
                </a:moveTo>
                <a:lnTo>
                  <a:pt x="2007235" y="0"/>
                </a:lnTo>
                <a:arcTo wR="101600" hR="101600" stAng="-5400000" swAng="5400000"/>
                <a:lnTo>
                  <a:pt x="2108835" y="2750185"/>
                </a:lnTo>
                <a:arcTo wR="101600" hR="101600" stAng="0" swAng="5400000"/>
                <a:lnTo>
                  <a:pt x="101600" y="2851785"/>
                </a:lnTo>
                <a:arcTo wR="101600" hR="101600" stAng="5400000" swAng="5400000"/>
                <a:lnTo>
                  <a:pt x="0" y="101600"/>
                </a:lnTo>
                <a:arcTo wR="101600" hR="101600" stAng="10800000" swAng="5400000"/>
                <a:close/>
              </a:path>
            </a:pathLst>
          </a:cu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indent="-180000">
              <a:lnSpc>
                <a:spcPct val="115000"/>
              </a:lnSpc>
            </a:pPr>
            <a:r>
              <a:rPr sz="1100" b="1">
                <a:latin typeface="Verdana"/>
                <a:ea typeface="Verdana"/>
              </a:rPr>
              <a:t>Evidence</a:t>
            </a:r>
            <a:r>
              <a:rPr sz="1100">
                <a:latin typeface="Verdana"/>
                <a:ea typeface="Verdana"/>
              </a:rPr>
              <a:t> All districts cluster around roughly 91.7% achievement of stated EPR targets.</a:t>
            </a:r>
          </a:p>
          <a:p>
            <a:pPr indent="-180000">
              <a:lnSpc>
                <a:spcPct val="115000"/>
              </a:lnSpc>
            </a:pPr>
            <a:r>
              <a:rPr sz="1100" b="1">
                <a:latin typeface="Verdana"/>
                <a:ea typeface="Verdana"/>
              </a:rPr>
              <a:t>Root cause</a:t>
            </a:r>
            <a:r>
              <a:rPr sz="1100">
                <a:latin typeface="Verdana"/>
                <a:ea typeface="Verdana"/>
              </a:rPr>
              <a:t> The metric is likely formula-driven from the same base dataset, so it gives weak separation between strong and weak district execution.</a:t>
            </a:r>
          </a:p>
          <a:p>
            <a:pPr indent="-180000">
              <a:lnSpc>
                <a:spcPct val="115000"/>
              </a:lnSpc>
            </a:pPr>
            <a:r>
              <a:rPr sz="1100" b="1">
                <a:latin typeface="Verdana"/>
                <a:ea typeface="Verdana"/>
              </a:rPr>
              <a:t>Recommendation</a:t>
            </a:r>
            <a:r>
              <a:rPr sz="1100">
                <a:latin typeface="Verdana"/>
                <a:ea typeface="Verdana"/>
              </a:rPr>
              <a:t> Keep EPR attainment as a compliance headline, but add verification metrics such as recycler throughput, hotspot closure, and documented formal-channel processing.</a:t>
            </a:r>
          </a:p>
        </p:txBody>
      </p:sp>
      <p:sp>
        <p:nvSpPr>
          <p:cNvPr id="5" name="HtmlTextBox 5"/>
          <p:cNvSpPr/>
          <p:nvPr/>
        </p:nvSpPr>
        <p:spPr>
          <a:xfrm>
            <a:off x="595788" y="4689157"/>
            <a:ext cx="7952422" cy="80010"/>
          </a:xfrm>
          <a:custGeom>
            <a:avLst/>
            <a:gdLst/>
            <a:ahLst/>
            <a:cxnLst/>
            <a:rect l="0" t="0" r="7952422" b="80010"/>
            <a:pathLst>
              <a:path w="7952422" h="80010">
                <a:moveTo>
                  <a:pt x="101600" y="0"/>
                </a:moveTo>
                <a:lnTo>
                  <a:pt x="7850822" y="0"/>
                </a:lnTo>
                <a:arcTo wR="101600" hR="101600" stAng="-5400000" swAng="5400000"/>
                <a:lnTo>
                  <a:pt x="7952422" y="-21590"/>
                </a:lnTo>
                <a:arcTo wR="101600" hR="101600" stAng="0" swAng="5400000"/>
                <a:lnTo>
                  <a:pt x="101600" y="80010"/>
                </a:lnTo>
                <a:arcTo wR="101600" hR="101600" stAng="5400000" swAng="5400000"/>
                <a:lnTo>
                  <a:pt x="0" y="101600"/>
                </a:lnTo>
                <a:arcTo wR="101600" hR="101600" stAng="10800000" swAng="5400000"/>
                <a:close/>
              </a:path>
            </a:pathLst>
          </a:cu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indent="-180000">
              <a:lnSpc>
                <a:spcPct val="115000"/>
              </a:lnSpc>
            </a:pPr>
            <a:r>
              <a:rPr sz="550">
                <a:latin typeface="Verdana"/>
                <a:ea typeface="Verdana"/>
              </a:rPr>
              <a:t>Source: district EPR achievement rate values provided in the slide spec. Diagnostic note: the near-identical rates limit the metric’s ability to distinguish execution quality across districts.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tmlTextBox 2"/>
          <p:cNvSpPr/>
          <p:nvPr/>
        </p:nvSpPr>
        <p:spPr>
          <a:xfrm>
            <a:off x="595788" y="431482"/>
            <a:ext cx="7952422" cy="508635"/>
          </a:xfrm>
          <a:custGeom>
            <a:avLst/>
            <a:gdLst/>
            <a:ahLst/>
            <a:cxnLst/>
            <a:rect l="0" t="0" r="7952422" b="508635"/>
            <a:pathLst>
              <a:path w="7952422" h="508635">
                <a:moveTo>
                  <a:pt x="101600" y="0"/>
                </a:moveTo>
                <a:lnTo>
                  <a:pt x="7850822" y="0"/>
                </a:lnTo>
                <a:arcTo wR="101600" hR="101600" stAng="-5400000" swAng="5400000"/>
                <a:lnTo>
                  <a:pt x="7952422" y="407035"/>
                </a:lnTo>
                <a:arcTo wR="101600" hR="101600" stAng="0" swAng="5400000"/>
                <a:lnTo>
                  <a:pt x="101600" y="508635"/>
                </a:lnTo>
                <a:arcTo wR="101600" hR="101600" stAng="5400000" swAng="5400000"/>
                <a:lnTo>
                  <a:pt x="0" y="101600"/>
                </a:lnTo>
                <a:arcTo wR="101600" hR="101600" stAng="10800000" swAng="5400000"/>
                <a:close/>
              </a:path>
            </a:pathLst>
          </a:cu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indent="-180000">
              <a:lnSpc>
                <a:spcPct val="115000"/>
              </a:lnSpc>
            </a:pPr>
            <a:r>
              <a:rPr sz="1705" b="1">
                <a:latin typeface="Verdana"/>
                <a:ea typeface="Verdana"/>
              </a:rPr>
              <a:t>Processing throughput is the biggest system bottleneck relative to reported recycling capacity</a:t>
            </a:r>
          </a:p>
        </p:txBody>
      </p:sp>
      <p:graphicFrame>
        <p:nvGraphicFramePr>
          <p:cNvPr id="3" name="Chart 3"/>
          <p:cNvGraphicFramePr/>
          <p:nvPr/>
        </p:nvGraphicFramePr>
        <p:xfrm>
          <a:off x="595788" y="1403032"/>
          <a:ext cx="3623310" cy="21659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Chart 4"/>
          <p:cNvGraphicFramePr/>
          <p:nvPr/>
        </p:nvGraphicFramePr>
        <p:xfrm>
          <a:off x="4924901" y="1403032"/>
          <a:ext cx="3623310" cy="21659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" name="HtmlTextBox 5"/>
          <p:cNvSpPr/>
          <p:nvPr/>
        </p:nvSpPr>
        <p:spPr>
          <a:xfrm>
            <a:off x="595788" y="3960495"/>
            <a:ext cx="7952422" cy="408622"/>
          </a:xfrm>
          <a:custGeom>
            <a:avLst/>
            <a:gdLst/>
            <a:ahLst/>
            <a:cxnLst/>
            <a:rect l="0" t="0" r="7952422" b="408622"/>
            <a:pathLst>
              <a:path w="7952422" h="408622">
                <a:moveTo>
                  <a:pt x="101600" y="0"/>
                </a:moveTo>
                <a:lnTo>
                  <a:pt x="7850822" y="0"/>
                </a:lnTo>
                <a:arcTo wR="101600" hR="101600" stAng="-5400000" swAng="5400000"/>
                <a:lnTo>
                  <a:pt x="7952422" y="307022"/>
                </a:lnTo>
                <a:arcTo wR="101600" hR="101600" stAng="0" swAng="5400000"/>
                <a:lnTo>
                  <a:pt x="101600" y="408622"/>
                </a:lnTo>
                <a:arcTo wR="101600" hR="101600" stAng="5400000" swAng="5400000"/>
                <a:lnTo>
                  <a:pt x="0" y="101600"/>
                </a:lnTo>
                <a:arcTo wR="101600" hR="101600" stAng="10800000" swAng="5400000"/>
                <a:close/>
              </a:path>
            </a:pathLst>
          </a:cu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indent="-180000">
              <a:lnSpc>
                <a:spcPct val="115000"/>
              </a:lnSpc>
            </a:pPr>
            <a:r>
              <a:rPr sz="1100" b="1">
                <a:latin typeface="Verdana"/>
                <a:ea typeface="Verdana"/>
              </a:rPr>
              <a:t>Evidence</a:t>
            </a:r>
            <a:r>
              <a:rPr sz="1100">
                <a:latin typeface="Verdana"/>
                <a:ea typeface="Verdana"/>
              </a:rPr>
              <a:t> The workbook reports </a:t>
            </a:r>
            <a:r>
              <a:rPr sz="1100" b="1">
                <a:latin typeface="Verdana"/>
                <a:ea typeface="Verdana"/>
              </a:rPr>
              <a:t>136.9k tonnes/year</a:t>
            </a:r>
            <a:r>
              <a:rPr sz="1100">
                <a:latin typeface="Verdana"/>
                <a:ea typeface="Verdana"/>
              </a:rPr>
              <a:t> of installed recycling capacity but only </a:t>
            </a:r>
            <a:r>
              <a:rPr sz="1100" b="1">
                <a:latin typeface="Verdana"/>
                <a:ea typeface="Verdana"/>
              </a:rPr>
              <a:t>16.15k tonnes</a:t>
            </a:r>
            <a:r>
              <a:rPr sz="1100">
                <a:latin typeface="Verdana"/>
                <a:ea typeface="Verdana"/>
              </a:rPr>
              <a:t> processed, implying roughly </a:t>
            </a:r>
            <a:r>
              <a:rPr sz="1100" b="1">
                <a:latin typeface="Verdana"/>
                <a:ea typeface="Verdana"/>
              </a:rPr>
              <a:t>11.8% observed utilization</a:t>
            </a:r>
            <a:r>
              <a:rPr sz="1100">
                <a:latin typeface="Verdana"/>
                <a:ea typeface="Verdana"/>
              </a:rPr>
              <a:t> from available records.</a:t>
            </a:r>
          </a:p>
          <a:p>
            <a:pPr indent="-180000">
              <a:lnSpc>
                <a:spcPct val="115000"/>
              </a:lnSpc>
            </a:pPr>
            <a:r>
              <a:rPr sz="1100" b="1">
                <a:latin typeface="Verdana"/>
                <a:ea typeface="Verdana"/>
              </a:rPr>
              <a:t>Risk</a:t>
            </a:r>
            <a:r>
              <a:rPr sz="1100">
                <a:latin typeface="Verdana"/>
                <a:ea typeface="Verdana"/>
              </a:rPr>
              <a:t> Either processing is materially under-reported, newly commissioned capacity is not yet active, or the collection stream is not converting into verifiable authorized treatment fast enough.</a:t>
            </a:r>
          </a:p>
        </p:txBody>
      </p:sp>
      <p:sp>
        <p:nvSpPr>
          <p:cNvPr id="6" name="HtmlTextBox 6"/>
          <p:cNvSpPr/>
          <p:nvPr/>
        </p:nvSpPr>
        <p:spPr>
          <a:xfrm>
            <a:off x="595788" y="4689157"/>
            <a:ext cx="7952422" cy="80010"/>
          </a:xfrm>
          <a:custGeom>
            <a:avLst/>
            <a:gdLst/>
            <a:ahLst/>
            <a:cxnLst/>
            <a:rect l="0" t="0" r="7952422" b="80010"/>
            <a:pathLst>
              <a:path w="7952422" h="80010">
                <a:moveTo>
                  <a:pt x="101600" y="0"/>
                </a:moveTo>
                <a:lnTo>
                  <a:pt x="7850822" y="0"/>
                </a:lnTo>
                <a:arcTo wR="101600" hR="101600" stAng="-5400000" swAng="5400000"/>
                <a:lnTo>
                  <a:pt x="7952422" y="-21590"/>
                </a:lnTo>
                <a:arcTo wR="101600" hR="101600" stAng="0" swAng="5400000"/>
                <a:lnTo>
                  <a:pt x="101600" y="80010"/>
                </a:lnTo>
                <a:arcTo wR="101600" hR="101600" stAng="5400000" swAng="5400000"/>
                <a:lnTo>
                  <a:pt x="0" y="101600"/>
                </a:lnTo>
                <a:arcTo wR="101600" hR="101600" stAng="10800000" swAng="5400000"/>
                <a:close/>
              </a:path>
            </a:pathLst>
          </a:cu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indent="-180000">
              <a:lnSpc>
                <a:spcPct val="115000"/>
              </a:lnSpc>
            </a:pPr>
            <a:r>
              <a:rPr sz="550">
                <a:latin typeface="Verdana"/>
                <a:ea typeface="Verdana"/>
              </a:rPr>
              <a:t>Source: user-provided recycling infrastructure and utilization figures from the workbook; district capacity and recycler utilization rendered as complementary evidence views.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tmlTextBox 2"/>
          <p:cNvSpPr/>
          <p:nvPr/>
        </p:nvSpPr>
        <p:spPr>
          <a:xfrm>
            <a:off x="595788" y="431482"/>
            <a:ext cx="7952422" cy="508635"/>
          </a:xfrm>
          <a:custGeom>
            <a:avLst/>
            <a:gdLst/>
            <a:ahLst/>
            <a:cxnLst/>
            <a:rect l="0" t="0" r="7952422" b="508635"/>
            <a:pathLst>
              <a:path w="7952422" h="508635">
                <a:moveTo>
                  <a:pt x="101600" y="0"/>
                </a:moveTo>
                <a:lnTo>
                  <a:pt x="7850822" y="0"/>
                </a:lnTo>
                <a:arcTo wR="101600" hR="101600" stAng="-5400000" swAng="5400000"/>
                <a:lnTo>
                  <a:pt x="7952422" y="407035"/>
                </a:lnTo>
                <a:arcTo wR="101600" hR="101600" stAng="0" swAng="5400000"/>
                <a:lnTo>
                  <a:pt x="101600" y="508635"/>
                </a:lnTo>
                <a:arcTo wR="101600" hR="101600" stAng="5400000" swAng="5400000"/>
                <a:lnTo>
                  <a:pt x="0" y="101600"/>
                </a:lnTo>
                <a:arcTo wR="101600" hR="101600" stAng="10800000" swAng="5400000"/>
                <a:close/>
              </a:path>
            </a:pathLst>
          </a:cu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indent="-180000">
              <a:lnSpc>
                <a:spcPct val="115000"/>
              </a:lnSpc>
            </a:pPr>
            <a:r>
              <a:rPr sz="1705" b="1">
                <a:latin typeface="Verdana"/>
                <a:ea typeface="Verdana"/>
              </a:rPr>
              <a:t>Informal-sector integration remains too shallow to reduce hotspot risk at program level</a:t>
            </a:r>
          </a:p>
        </p:txBody>
      </p:sp>
      <p:graphicFrame>
        <p:nvGraphicFramePr>
          <p:cNvPr id="3" name="Chart 3"/>
          <p:cNvGraphicFramePr/>
          <p:nvPr/>
        </p:nvGraphicFramePr>
        <p:xfrm>
          <a:off x="595788" y="1403032"/>
          <a:ext cx="3623310" cy="21659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Chart 4"/>
          <p:cNvGraphicFramePr/>
          <p:nvPr/>
        </p:nvGraphicFramePr>
        <p:xfrm>
          <a:off x="4924901" y="1403032"/>
          <a:ext cx="3623310" cy="21659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" name="HtmlTextBox 5"/>
          <p:cNvSpPr/>
          <p:nvPr/>
        </p:nvSpPr>
        <p:spPr>
          <a:xfrm>
            <a:off x="595788" y="3960495"/>
            <a:ext cx="7952422" cy="408622"/>
          </a:xfrm>
          <a:custGeom>
            <a:avLst/>
            <a:gdLst/>
            <a:ahLst/>
            <a:cxnLst/>
            <a:rect l="0" t="0" r="7952422" b="408622"/>
            <a:pathLst>
              <a:path w="7952422" h="408622">
                <a:moveTo>
                  <a:pt x="101600" y="0"/>
                </a:moveTo>
                <a:lnTo>
                  <a:pt x="7850822" y="0"/>
                </a:lnTo>
                <a:arcTo wR="101600" hR="101600" stAng="-5400000" swAng="5400000"/>
                <a:lnTo>
                  <a:pt x="7952422" y="307022"/>
                </a:lnTo>
                <a:arcTo wR="101600" hR="101600" stAng="0" swAng="5400000"/>
                <a:lnTo>
                  <a:pt x="101600" y="408622"/>
                </a:lnTo>
                <a:arcTo wR="101600" hR="101600" stAng="5400000" swAng="5400000"/>
                <a:lnTo>
                  <a:pt x="0" y="101600"/>
                </a:lnTo>
                <a:arcTo wR="101600" hR="101600" stAng="10800000" swAng="5400000"/>
                <a:close/>
              </a:path>
            </a:pathLst>
          </a:cu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indent="-180000">
              <a:lnSpc>
                <a:spcPct val="115000"/>
              </a:lnSpc>
            </a:pPr>
            <a:r>
              <a:rPr sz="1100" b="1">
                <a:latin typeface="Verdana"/>
                <a:ea typeface="Verdana"/>
              </a:rPr>
              <a:t>Evidence</a:t>
            </a:r>
            <a:r>
              <a:rPr sz="1100">
                <a:latin typeface="Verdana"/>
                <a:ea typeface="Verdana"/>
              </a:rPr>
              <a:t> Only 110 of 495 estimated informal workers are registered or trained, or about 22.2%, and one hotspot remains at 0% coverage.</a:t>
            </a:r>
          </a:p>
          <a:p>
            <a:pPr indent="-180000">
              <a:lnSpc>
                <a:spcPct val="115000"/>
              </a:lnSpc>
            </a:pPr>
            <a:r>
              <a:rPr sz="1100" b="1">
                <a:latin typeface="Verdana"/>
                <a:ea typeface="Verdana"/>
              </a:rPr>
              <a:t>Risk</a:t>
            </a:r>
            <a:r>
              <a:rPr sz="1100">
                <a:latin typeface="Verdana"/>
                <a:ea typeface="Verdana"/>
              </a:rPr>
              <a:t> Partial formalization without worker conversion leaves the program exposed to leakage, unsafe handling, and weak enforcement credibility.</a:t>
            </a:r>
          </a:p>
        </p:txBody>
      </p:sp>
      <p:sp>
        <p:nvSpPr>
          <p:cNvPr id="6" name="HtmlTextBox 6"/>
          <p:cNvSpPr/>
          <p:nvPr/>
        </p:nvSpPr>
        <p:spPr>
          <a:xfrm>
            <a:off x="595788" y="4689157"/>
            <a:ext cx="7952422" cy="80010"/>
          </a:xfrm>
          <a:custGeom>
            <a:avLst/>
            <a:gdLst/>
            <a:ahLst/>
            <a:cxnLst/>
            <a:rect l="0" t="0" r="7952422" b="80010"/>
            <a:pathLst>
              <a:path w="7952422" h="80010">
                <a:moveTo>
                  <a:pt x="101600" y="0"/>
                </a:moveTo>
                <a:lnTo>
                  <a:pt x="7850822" y="0"/>
                </a:lnTo>
                <a:arcTo wR="101600" hR="101600" stAng="-5400000" swAng="5400000"/>
                <a:lnTo>
                  <a:pt x="7952422" y="-21590"/>
                </a:lnTo>
                <a:arcTo wR="101600" hR="101600" stAng="0" swAng="5400000"/>
                <a:lnTo>
                  <a:pt x="101600" y="80010"/>
                </a:lnTo>
                <a:arcTo wR="101600" hR="101600" stAng="5400000" swAng="5400000"/>
                <a:lnTo>
                  <a:pt x="0" y="101600"/>
                </a:lnTo>
                <a:arcTo wR="101600" hR="101600" stAng="10800000" swAng="5400000"/>
                <a:close/>
              </a:path>
            </a:pathLst>
          </a:cu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indent="-180000">
              <a:lnSpc>
                <a:spcPct val="115000"/>
              </a:lnSpc>
            </a:pPr>
            <a:r>
              <a:rPr sz="550">
                <a:latin typeface="Verdana"/>
                <a:ea typeface="Verdana"/>
              </a:rPr>
              <a:t>Source: Informal Sector hotspot status and registration or training records.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tmlTextBox 2"/>
          <p:cNvSpPr/>
          <p:nvPr/>
        </p:nvSpPr>
        <p:spPr>
          <a:xfrm>
            <a:off x="595788" y="431482"/>
            <a:ext cx="7952422" cy="508635"/>
          </a:xfrm>
          <a:custGeom>
            <a:avLst/>
            <a:gdLst/>
            <a:ahLst/>
            <a:cxnLst/>
            <a:rect l="0" t="0" r="7952422" b="508635"/>
            <a:pathLst>
              <a:path w="7952422" h="508635">
                <a:moveTo>
                  <a:pt x="101600" y="0"/>
                </a:moveTo>
                <a:lnTo>
                  <a:pt x="7850822" y="0"/>
                </a:lnTo>
                <a:arcTo wR="101600" hR="101600" stAng="-5400000" swAng="5400000"/>
                <a:lnTo>
                  <a:pt x="7952422" y="407035"/>
                </a:lnTo>
                <a:arcTo wR="101600" hR="101600" stAng="0" swAng="5400000"/>
                <a:lnTo>
                  <a:pt x="101600" y="508635"/>
                </a:lnTo>
                <a:arcTo wR="101600" hR="101600" stAng="5400000" swAng="5400000"/>
                <a:lnTo>
                  <a:pt x="0" y="101600"/>
                </a:lnTo>
                <a:arcTo wR="101600" hR="101600" stAng="10800000" swAng="5400000"/>
                <a:close/>
              </a:path>
            </a:pathLst>
          </a:cu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indent="-180000">
              <a:lnSpc>
                <a:spcPct val="115000"/>
              </a:lnSpc>
            </a:pPr>
            <a:r>
              <a:rPr sz="1705" b="1">
                <a:latin typeface="Verdana"/>
                <a:ea typeface="Verdana"/>
              </a:rPr>
              <a:t>Environmental safeguards show active monitoring, but exceedance results still outweigh clean outcomes</a:t>
            </a:r>
          </a:p>
        </p:txBody>
      </p:sp>
      <p:graphicFrame>
        <p:nvGraphicFramePr>
          <p:cNvPr id="3" name="Chart 3"/>
          <p:cNvGraphicFramePr/>
          <p:nvPr/>
        </p:nvGraphicFramePr>
        <p:xfrm>
          <a:off x="595788" y="1403032"/>
          <a:ext cx="3623310" cy="21659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Chart 4"/>
          <p:cNvGraphicFramePr/>
          <p:nvPr/>
        </p:nvGraphicFramePr>
        <p:xfrm>
          <a:off x="4924901" y="1403032"/>
          <a:ext cx="3623310" cy="21659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" name="HtmlTextBox 5"/>
          <p:cNvSpPr/>
          <p:nvPr/>
        </p:nvSpPr>
        <p:spPr>
          <a:xfrm>
            <a:off x="595788" y="3960495"/>
            <a:ext cx="7952422" cy="408622"/>
          </a:xfrm>
          <a:custGeom>
            <a:avLst/>
            <a:gdLst/>
            <a:ahLst/>
            <a:cxnLst/>
            <a:rect l="0" t="0" r="7952422" b="408622"/>
            <a:pathLst>
              <a:path w="7952422" h="408622">
                <a:moveTo>
                  <a:pt x="101600" y="0"/>
                </a:moveTo>
                <a:lnTo>
                  <a:pt x="7850822" y="0"/>
                </a:lnTo>
                <a:arcTo wR="101600" hR="101600" stAng="-5400000" swAng="5400000"/>
                <a:lnTo>
                  <a:pt x="7952422" y="307022"/>
                </a:lnTo>
                <a:arcTo wR="101600" hR="101600" stAng="0" swAng="5400000"/>
                <a:lnTo>
                  <a:pt x="101600" y="408622"/>
                </a:lnTo>
                <a:arcTo wR="101600" hR="101600" stAng="5400000" swAng="5400000"/>
                <a:lnTo>
                  <a:pt x="0" y="101600"/>
                </a:lnTo>
                <a:arcTo wR="101600" hR="101600" stAng="10800000" swAng="5400000"/>
                <a:close/>
              </a:path>
            </a:pathLst>
          </a:cu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indent="-180000">
              <a:lnSpc>
                <a:spcPct val="115000"/>
              </a:lnSpc>
            </a:pPr>
            <a:r>
              <a:rPr sz="1100" b="1">
                <a:latin typeface="Verdana"/>
                <a:ea typeface="Verdana"/>
              </a:rPr>
              <a:t>Evidence</a:t>
            </a:r>
            <a:r>
              <a:rPr sz="1100">
                <a:latin typeface="Verdana"/>
                <a:ea typeface="Verdana"/>
              </a:rPr>
              <a:t> Four of six monitoring records fall into exceedance categories, while outreach reached 4,950 participants and was heavily concentrated in Bengaluru Urban.</a:t>
            </a:r>
          </a:p>
          <a:p>
            <a:pPr indent="-180000">
              <a:lnSpc>
                <a:spcPct val="115000"/>
              </a:lnSpc>
            </a:pPr>
            <a:r>
              <a:rPr sz="1100" b="1">
                <a:latin typeface="Verdana"/>
                <a:ea typeface="Verdana"/>
              </a:rPr>
              <a:t>Risk</a:t>
            </a:r>
            <a:r>
              <a:rPr sz="1100">
                <a:latin typeface="Verdana"/>
                <a:ea typeface="Verdana"/>
              </a:rPr>
              <a:t> Safeguard response is present but not yet balanced; environmental exceedance management and public engagement remain uneven across geographies.</a:t>
            </a:r>
          </a:p>
        </p:txBody>
      </p:sp>
      <p:sp>
        <p:nvSpPr>
          <p:cNvPr id="6" name="HtmlTextBox 6"/>
          <p:cNvSpPr/>
          <p:nvPr/>
        </p:nvSpPr>
        <p:spPr>
          <a:xfrm>
            <a:off x="595788" y="4689157"/>
            <a:ext cx="7952422" cy="80010"/>
          </a:xfrm>
          <a:custGeom>
            <a:avLst/>
            <a:gdLst/>
            <a:ahLst/>
            <a:cxnLst/>
            <a:rect l="0" t="0" r="7952422" b="80010"/>
            <a:pathLst>
              <a:path w="7952422" h="80010">
                <a:moveTo>
                  <a:pt x="101600" y="0"/>
                </a:moveTo>
                <a:lnTo>
                  <a:pt x="7850822" y="0"/>
                </a:lnTo>
                <a:arcTo wR="101600" hR="101600" stAng="-5400000" swAng="5400000"/>
                <a:lnTo>
                  <a:pt x="7952422" y="-21590"/>
                </a:lnTo>
                <a:arcTo wR="101600" hR="101600" stAng="0" swAng="5400000"/>
                <a:lnTo>
                  <a:pt x="101600" y="80010"/>
                </a:lnTo>
                <a:arcTo wR="101600" hR="101600" stAng="5400000" swAng="5400000"/>
                <a:lnTo>
                  <a:pt x="0" y="101600"/>
                </a:lnTo>
                <a:arcTo wR="101600" hR="101600" stAng="10800000" swAng="5400000"/>
                <a:close/>
              </a:path>
            </a:pathLst>
          </a:cu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indent="-180000">
              <a:lnSpc>
                <a:spcPct val="115000"/>
              </a:lnSpc>
            </a:pPr>
            <a:r>
              <a:rPr sz="550">
                <a:latin typeface="Verdana"/>
                <a:ea typeface="Verdana"/>
              </a:rPr>
              <a:t>Source: EnvHealthMon2026 monitoring records and 7 Awareness Prog participation totals.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tmlTextBox 2"/>
          <p:cNvSpPr/>
          <p:nvPr/>
        </p:nvSpPr>
        <p:spPr>
          <a:xfrm>
            <a:off x="595788" y="431482"/>
            <a:ext cx="7952422" cy="508635"/>
          </a:xfrm>
          <a:custGeom>
            <a:avLst/>
            <a:gdLst/>
            <a:ahLst/>
            <a:cxnLst/>
            <a:rect l="0" t="0" r="7952422" b="508635"/>
            <a:pathLst>
              <a:path w="7952422" h="508635">
                <a:moveTo>
                  <a:pt x="101600" y="0"/>
                </a:moveTo>
                <a:lnTo>
                  <a:pt x="7850822" y="0"/>
                </a:lnTo>
                <a:arcTo wR="101600" hR="101600" stAng="-5400000" swAng="5400000"/>
                <a:lnTo>
                  <a:pt x="7952422" y="407035"/>
                </a:lnTo>
                <a:arcTo wR="101600" hR="101600" stAng="0" swAng="5400000"/>
                <a:lnTo>
                  <a:pt x="101600" y="508635"/>
                </a:lnTo>
                <a:arcTo wR="101600" hR="101600" stAng="5400000" swAng="5400000"/>
                <a:lnTo>
                  <a:pt x="0" y="101600"/>
                </a:lnTo>
                <a:arcTo wR="101600" hR="101600" stAng="10800000" swAng="5400000"/>
                <a:close/>
              </a:path>
            </a:pathLst>
          </a:cu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indent="-180000">
              <a:lnSpc>
                <a:spcPct val="115000"/>
              </a:lnSpc>
            </a:pPr>
            <a:r>
              <a:rPr sz="1705" b="1">
                <a:latin typeface="Verdana"/>
                <a:ea typeface="Verdana"/>
              </a:rPr>
              <a:t>Three Actions to Move from Coverage to Control</a:t>
            </a:r>
          </a:p>
        </p:txBody>
      </p:sp>
      <p:grpSp>
        <p:nvGrpSpPr>
          <p:cNvPr id="3" name="SmartLayout 3"/>
          <p:cNvGrpSpPr/>
          <p:nvPr/>
        </p:nvGrpSpPr>
        <p:grpSpPr>
          <a:xfrm>
            <a:off x="550068" y="1143000"/>
            <a:ext cx="8043862" cy="3000375"/>
            <a:chOff x="0" y="0"/>
            <a:chExt cx="10725150" cy="4000500"/>
          </a:xfrm>
        </p:grpSpPr>
        <p:sp>
          <p:nvSpPr>
            <p:cNvPr id="4" name="Text 4"/>
            <p:cNvSpPr txBox="1"/>
            <p:nvPr/>
          </p:nvSpPr>
          <p:spPr>
            <a:xfrm>
              <a:off x="419100" y="205740"/>
              <a:ext cx="267462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l"/>
              <a:r>
                <a:rPr lang="zh-CN" altLang="en-US" sz="1350" b="1" i="0" dirty="0">
                  <a:solidFill>
                    <a:srgbClr val="1A1A2E"/>
                  </a:solidFill>
                </a:rPr>
                <a:t>Closing summary</a:t>
              </a:r>
            </a:p>
          </p:txBody>
        </p:sp>
        <p:sp>
          <p:nvSpPr>
            <p:cNvPr id="5" name="Line 5"/>
            <p:cNvSpPr>
              <a:spLocks noGrp="1"/>
            </p:cNvSpPr>
            <p:nvPr/>
          </p:nvSpPr>
          <p:spPr>
            <a:xfrm>
              <a:off x="342900" y="857250"/>
              <a:ext cx="10039350" cy="9525"/>
            </a:xfrm>
            <a:prstGeom prst="rect">
              <a:avLst/>
            </a:prstGeom>
            <a:solidFill>
              <a:srgbClr val="9AAEFF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" name="Line 6"/>
            <p:cNvSpPr>
              <a:spLocks noGrp="1"/>
            </p:cNvSpPr>
            <p:nvPr/>
          </p:nvSpPr>
          <p:spPr>
            <a:xfrm>
              <a:off x="5362575" y="1009650"/>
              <a:ext cx="9525" cy="2686050"/>
            </a:xfrm>
            <a:prstGeom prst="rect">
              <a:avLst/>
            </a:prstGeom>
            <a:solidFill>
              <a:srgbClr val="EAF0FF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Text 7"/>
            <p:cNvSpPr txBox="1"/>
            <p:nvPr/>
          </p:nvSpPr>
          <p:spPr>
            <a:xfrm>
              <a:off x="590550" y="1016317"/>
              <a:ext cx="1604772" cy="2571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l"/>
              <a:r>
                <a:rPr lang="zh-CN" altLang="en-US" sz="1012" b="1" i="0" dirty="0">
                  <a:solidFill>
                    <a:srgbClr val="1A1A2E"/>
                  </a:solidFill>
                </a:rPr>
                <a:t>Key findings</a:t>
              </a:r>
            </a:p>
          </p:txBody>
        </p:sp>
        <p:sp>
          <p:nvSpPr>
            <p:cNvPr id="8" name="Text 8"/>
            <p:cNvSpPr txBox="1"/>
            <p:nvPr/>
          </p:nvSpPr>
          <p:spPr>
            <a:xfrm>
              <a:off x="5810250" y="1016317"/>
              <a:ext cx="1604772" cy="2571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l"/>
              <a:r>
                <a:rPr lang="zh-CN" altLang="en-US" sz="1012" b="1" i="0" dirty="0">
                  <a:solidFill>
                    <a:srgbClr val="1A1A2E"/>
                  </a:solidFill>
                </a:rPr>
                <a:t>Next actions</a:t>
              </a:r>
            </a:p>
          </p:txBody>
        </p:sp>
        <p:sp>
          <p:nvSpPr>
            <p:cNvPr id="9" name="Text 9"/>
            <p:cNvSpPr txBox="1"/>
            <p:nvPr/>
          </p:nvSpPr>
          <p:spPr>
            <a:xfrm>
              <a:off x="590550" y="1413510"/>
              <a:ext cx="73152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l"/>
              <a:r>
                <a:rPr lang="zh-CN" altLang="en-US" sz="900" b="1" i="0" dirty="0">
                  <a:solidFill>
                    <a:srgbClr val="2F5BFF"/>
                  </a:solidFill>
                </a:rPr>
                <a:t>01</a:t>
              </a:r>
            </a:p>
          </p:txBody>
        </p:sp>
        <p:sp>
          <p:nvSpPr>
            <p:cNvPr id="10" name="Text 10"/>
            <p:cNvSpPr txBox="1"/>
            <p:nvPr/>
          </p:nvSpPr>
          <p:spPr>
            <a:xfrm>
              <a:off x="1143000" y="1421606"/>
              <a:ext cx="5349239" cy="63341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l"/>
              <a:r>
                <a:rPr lang="zh-CN" altLang="en-US" sz="843" b="0" i="0" dirty="0">
                  <a:solidFill>
                    <a:srgbClr val="1A1A2E"/>
                  </a:solidFill>
                </a:rPr>
                <a:t>Collection coverage is substantial at about</a:t>
              </a:r>
            </a:p>
            <a:p>
              <a:pPr algn="l"/>
              <a:r>
                <a:rPr lang="zh-CN" altLang="en-US" sz="843" b="0" i="0" dirty="0">
                  <a:solidFill>
                    <a:srgbClr val="1A1A2E"/>
                  </a:solidFill>
                </a:rPr>
                <a:t>65.0%, but verified end-to-end formal control is</a:t>
              </a:r>
            </a:p>
            <a:p>
              <a:pPr algn="l"/>
              <a:r>
                <a:rPr lang="zh-CN" altLang="en-US" sz="843" b="0" i="0" dirty="0">
                  <a:solidFill>
                    <a:srgbClr val="1A1A2E"/>
                  </a:solidFill>
                </a:rPr>
                <a:t>not yet in place.</a:t>
              </a:r>
            </a:p>
          </p:txBody>
        </p:sp>
        <p:sp>
          <p:nvSpPr>
            <p:cNvPr id="11" name="Text 11"/>
            <p:cNvSpPr txBox="1"/>
            <p:nvPr/>
          </p:nvSpPr>
          <p:spPr>
            <a:xfrm>
              <a:off x="-9525000" y="-9533096"/>
              <a:ext cx="45720" cy="1428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l"/>
              <a:r>
                <a:rPr lang="zh-CN" altLang="en-US" sz="600" b="0" i="0" dirty="0">
                  <a:solidFill>
                    <a:srgbClr val="1A1A2E"/>
                  </a:solidFill>
                </a:rPr>
                <a:t>left</a:t>
              </a:r>
            </a:p>
          </p:txBody>
        </p:sp>
        <p:sp>
          <p:nvSpPr>
            <p:cNvPr id="12" name="Text 12"/>
            <p:cNvSpPr txBox="1"/>
            <p:nvPr/>
          </p:nvSpPr>
          <p:spPr>
            <a:xfrm>
              <a:off x="590550" y="2213610"/>
              <a:ext cx="73152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l"/>
              <a:r>
                <a:rPr lang="zh-CN" altLang="en-US" sz="900" b="1" i="0" dirty="0">
                  <a:solidFill>
                    <a:srgbClr val="2F5BFF"/>
                  </a:solidFill>
                </a:rPr>
                <a:t>02</a:t>
              </a:r>
            </a:p>
          </p:txBody>
        </p:sp>
        <p:sp>
          <p:nvSpPr>
            <p:cNvPr id="13" name="Text 13"/>
            <p:cNvSpPr txBox="1"/>
            <p:nvPr/>
          </p:nvSpPr>
          <p:spPr>
            <a:xfrm>
              <a:off x="1143000" y="2221706"/>
              <a:ext cx="4457699" cy="63341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l"/>
              <a:r>
                <a:rPr lang="zh-CN" altLang="en-US" sz="843" b="0" i="0" dirty="0">
                  <a:solidFill>
                    <a:srgbClr val="1A1A2E"/>
                  </a:solidFill>
                </a:rPr>
                <a:t>Reported recycling capacity is far above</a:t>
              </a:r>
            </a:p>
            <a:p>
              <a:pPr algn="l"/>
              <a:r>
                <a:rPr lang="zh-CN" altLang="en-US" sz="843" b="0" i="0" dirty="0">
                  <a:solidFill>
                    <a:srgbClr val="1A1A2E"/>
                  </a:solidFill>
                </a:rPr>
                <a:t>observed throughput, making throughput</a:t>
              </a:r>
            </a:p>
            <a:p>
              <a:pPr algn="l"/>
              <a:r>
                <a:rPr lang="zh-CN" altLang="en-US" sz="843" b="0" i="0" dirty="0">
                  <a:solidFill>
                    <a:srgbClr val="1A1A2E"/>
                  </a:solidFill>
                </a:rPr>
                <a:t>verification the top system check.</a:t>
              </a:r>
            </a:p>
          </p:txBody>
        </p:sp>
        <p:sp>
          <p:nvSpPr>
            <p:cNvPr id="14" name="Text 14"/>
            <p:cNvSpPr txBox="1"/>
            <p:nvPr/>
          </p:nvSpPr>
          <p:spPr>
            <a:xfrm>
              <a:off x="-9525000" y="-9533096"/>
              <a:ext cx="45720" cy="1428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l"/>
              <a:r>
                <a:rPr lang="zh-CN" altLang="en-US" sz="600" b="0" i="0" dirty="0">
                  <a:solidFill>
                    <a:srgbClr val="1A1A2E"/>
                  </a:solidFill>
                </a:rPr>
                <a:t>left</a:t>
              </a:r>
            </a:p>
          </p:txBody>
        </p:sp>
        <p:sp>
          <p:nvSpPr>
            <p:cNvPr id="15" name="Text 15"/>
            <p:cNvSpPr txBox="1"/>
            <p:nvPr/>
          </p:nvSpPr>
          <p:spPr>
            <a:xfrm>
              <a:off x="590550" y="3013710"/>
              <a:ext cx="73152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l"/>
              <a:r>
                <a:rPr lang="zh-CN" altLang="en-US" sz="900" b="1" i="0" dirty="0">
                  <a:solidFill>
                    <a:srgbClr val="2F5BFF"/>
                  </a:solidFill>
                </a:rPr>
                <a:t>03</a:t>
              </a:r>
            </a:p>
          </p:txBody>
        </p:sp>
        <p:sp>
          <p:nvSpPr>
            <p:cNvPr id="16" name="Text 16"/>
            <p:cNvSpPr txBox="1"/>
            <p:nvPr/>
          </p:nvSpPr>
          <p:spPr>
            <a:xfrm>
              <a:off x="1143000" y="3021806"/>
              <a:ext cx="5014912" cy="63341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l"/>
              <a:r>
                <a:rPr lang="zh-CN" altLang="en-US" sz="843" b="0" i="0" dirty="0">
                  <a:solidFill>
                    <a:srgbClr val="1A1A2E"/>
                  </a:solidFill>
                </a:rPr>
                <a:t>Informal-sector integration and safeguard</a:t>
              </a:r>
            </a:p>
            <a:p>
              <a:pPr algn="l"/>
              <a:r>
                <a:rPr lang="zh-CN" altLang="en-US" sz="843" b="0" i="0" dirty="0">
                  <a:solidFill>
                    <a:srgbClr val="1A1A2E"/>
                  </a:solidFill>
                </a:rPr>
                <a:t>response remain incomplete, especially in</a:t>
              </a:r>
            </a:p>
            <a:p>
              <a:pPr algn="l"/>
              <a:r>
                <a:rPr lang="zh-CN" altLang="en-US" sz="843" b="0" i="0" dirty="0">
                  <a:solidFill>
                    <a:srgbClr val="1A1A2E"/>
                  </a:solidFill>
                </a:rPr>
                <a:t>low-coverage hotspots beyond Bengaluru Urban.</a:t>
              </a:r>
            </a:p>
          </p:txBody>
        </p:sp>
        <p:sp>
          <p:nvSpPr>
            <p:cNvPr id="17" name="Text 17"/>
            <p:cNvSpPr txBox="1"/>
            <p:nvPr/>
          </p:nvSpPr>
          <p:spPr>
            <a:xfrm>
              <a:off x="-9525000" y="-9533096"/>
              <a:ext cx="45720" cy="1428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l"/>
              <a:r>
                <a:rPr lang="zh-CN" altLang="en-US" sz="600" b="0" i="0" dirty="0">
                  <a:solidFill>
                    <a:srgbClr val="1A1A2E"/>
                  </a:solidFill>
                </a:rPr>
                <a:t>left</a:t>
              </a:r>
            </a:p>
          </p:txBody>
        </p:sp>
        <p:sp>
          <p:nvSpPr>
            <p:cNvPr id="18" name="Text 18"/>
            <p:cNvSpPr txBox="1"/>
            <p:nvPr/>
          </p:nvSpPr>
          <p:spPr>
            <a:xfrm>
              <a:off x="5810250" y="1413510"/>
              <a:ext cx="73152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l"/>
              <a:r>
                <a:rPr lang="zh-CN" altLang="en-US" sz="900" b="1" i="0" dirty="0">
                  <a:solidFill>
                    <a:srgbClr val="1A1A2E"/>
                  </a:solidFill>
                </a:rPr>
                <a:t>P1</a:t>
              </a:r>
            </a:p>
          </p:txBody>
        </p:sp>
        <p:sp>
          <p:nvSpPr>
            <p:cNvPr id="19" name="Text 19"/>
            <p:cNvSpPr txBox="1"/>
            <p:nvPr/>
          </p:nvSpPr>
          <p:spPr>
            <a:xfrm>
              <a:off x="6343650" y="1421606"/>
              <a:ext cx="5349239" cy="42386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l"/>
              <a:r>
                <a:rPr lang="zh-CN" altLang="en-US" sz="843" b="0" i="0" dirty="0">
                  <a:solidFill>
                    <a:srgbClr val="1A1A2E"/>
                  </a:solidFill>
                </a:rPr>
                <a:t>Launch a 30-day audit of recycler throughput and</a:t>
              </a:r>
            </a:p>
            <a:p>
              <a:pPr algn="l"/>
              <a:r>
                <a:rPr lang="zh-CN" altLang="en-US" sz="843" b="0" i="0" dirty="0">
                  <a:solidFill>
                    <a:srgbClr val="1A1A2E"/>
                  </a:solidFill>
                </a:rPr>
                <a:t>missing processing records.</a:t>
              </a:r>
            </a:p>
          </p:txBody>
        </p:sp>
        <p:sp>
          <p:nvSpPr>
            <p:cNvPr id="20" name="Text 20"/>
            <p:cNvSpPr txBox="1"/>
            <p:nvPr/>
          </p:nvSpPr>
          <p:spPr>
            <a:xfrm>
              <a:off x="-9525000" y="-9533096"/>
              <a:ext cx="45720" cy="1428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l"/>
              <a:r>
                <a:rPr lang="zh-CN" altLang="en-US" sz="600" b="0" i="0" dirty="0">
                  <a:solidFill>
                    <a:srgbClr val="1A1A2E"/>
                  </a:solidFill>
                </a:rPr>
                <a:t>right</a:t>
              </a:r>
            </a:p>
          </p:txBody>
        </p:sp>
        <p:sp>
          <p:nvSpPr>
            <p:cNvPr id="21" name="Text 21"/>
            <p:cNvSpPr txBox="1"/>
            <p:nvPr/>
          </p:nvSpPr>
          <p:spPr>
            <a:xfrm>
              <a:off x="5810250" y="2213610"/>
              <a:ext cx="73152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l"/>
              <a:r>
                <a:rPr lang="zh-CN" altLang="en-US" sz="900" b="1" i="0" dirty="0">
                  <a:solidFill>
                    <a:srgbClr val="1A1A2E"/>
                  </a:solidFill>
                </a:rPr>
                <a:t>P2</a:t>
              </a:r>
            </a:p>
          </p:txBody>
        </p:sp>
        <p:sp>
          <p:nvSpPr>
            <p:cNvPr id="22" name="Text 22"/>
            <p:cNvSpPr txBox="1"/>
            <p:nvPr/>
          </p:nvSpPr>
          <p:spPr>
            <a:xfrm>
              <a:off x="6343650" y="2221706"/>
              <a:ext cx="4903469" cy="42386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l"/>
              <a:r>
                <a:rPr lang="zh-CN" altLang="en-US" sz="843" b="0" i="0" dirty="0">
                  <a:solidFill>
                    <a:srgbClr val="1A1A2E"/>
                  </a:solidFill>
                </a:rPr>
                <a:t>Target hotspot formalization in K.R. Market,</a:t>
              </a:r>
            </a:p>
            <a:p>
              <a:pPr algn="l"/>
              <a:r>
                <a:rPr lang="zh-CN" altLang="en-US" sz="843" b="0" i="0" dirty="0">
                  <a:solidFill>
                    <a:srgbClr val="1A1A2E"/>
                  </a:solidFill>
                </a:rPr>
                <a:t>Peenya, and Narasapura first.</a:t>
              </a:r>
            </a:p>
          </p:txBody>
        </p:sp>
        <p:sp>
          <p:nvSpPr>
            <p:cNvPr id="23" name="Text 23"/>
            <p:cNvSpPr txBox="1"/>
            <p:nvPr/>
          </p:nvSpPr>
          <p:spPr>
            <a:xfrm>
              <a:off x="-9525000" y="-9533096"/>
              <a:ext cx="45720" cy="1428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l"/>
              <a:r>
                <a:rPr lang="zh-CN" altLang="en-US" sz="600" b="0" i="0" dirty="0">
                  <a:solidFill>
                    <a:srgbClr val="1A1A2E"/>
                  </a:solidFill>
                </a:rPr>
                <a:t>right</a:t>
              </a:r>
            </a:p>
          </p:txBody>
        </p:sp>
        <p:sp>
          <p:nvSpPr>
            <p:cNvPr id="24" name="Text 24"/>
            <p:cNvSpPr txBox="1"/>
            <p:nvPr/>
          </p:nvSpPr>
          <p:spPr>
            <a:xfrm>
              <a:off x="5810250" y="3013710"/>
              <a:ext cx="73152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l"/>
              <a:r>
                <a:rPr lang="zh-CN" altLang="en-US" sz="900" b="1" i="0" dirty="0">
                  <a:solidFill>
                    <a:srgbClr val="1A1A2E"/>
                  </a:solidFill>
                </a:rPr>
                <a:t>P3</a:t>
              </a:r>
            </a:p>
          </p:txBody>
        </p:sp>
        <p:sp>
          <p:nvSpPr>
            <p:cNvPr id="25" name="Text 25"/>
            <p:cNvSpPr txBox="1"/>
            <p:nvPr/>
          </p:nvSpPr>
          <p:spPr>
            <a:xfrm>
              <a:off x="6343650" y="3021806"/>
              <a:ext cx="4903469" cy="42386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l"/>
              <a:r>
                <a:rPr lang="zh-CN" altLang="en-US" sz="843" b="0" i="0" dirty="0">
                  <a:solidFill>
                    <a:srgbClr val="1A1A2E"/>
                  </a:solidFill>
                </a:rPr>
                <a:t>Expand environmental follow-up and awareness</a:t>
              </a:r>
            </a:p>
            <a:p>
              <a:pPr algn="l"/>
              <a:r>
                <a:rPr lang="zh-CN" altLang="en-US" sz="843" b="0" i="0" dirty="0">
                  <a:solidFill>
                    <a:srgbClr val="1A1A2E"/>
                  </a:solidFill>
                </a:rPr>
                <a:t>coverage beyond Bengaluru Urban.</a:t>
              </a:r>
            </a:p>
          </p:txBody>
        </p:sp>
        <p:sp>
          <p:nvSpPr>
            <p:cNvPr id="26" name="Text 26"/>
            <p:cNvSpPr txBox="1"/>
            <p:nvPr/>
          </p:nvSpPr>
          <p:spPr>
            <a:xfrm>
              <a:off x="-9525000" y="-9533096"/>
              <a:ext cx="45720" cy="1428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l"/>
              <a:r>
                <a:rPr lang="zh-CN" altLang="en-US" sz="600" b="0" i="0" dirty="0">
                  <a:solidFill>
                    <a:srgbClr val="1A1A2E"/>
                  </a:solidFill>
                </a:rPr>
                <a:t>right</a:t>
              </a:r>
            </a:p>
          </p:txBody>
        </p:sp>
      </p:grpSp>
      <p:sp>
        <p:nvSpPr>
          <p:cNvPr id="27" name="HtmlTextBox 27"/>
          <p:cNvSpPr/>
          <p:nvPr/>
        </p:nvSpPr>
        <p:spPr>
          <a:xfrm>
            <a:off x="595788" y="4474845"/>
            <a:ext cx="7952422" cy="280035"/>
          </a:xfrm>
          <a:custGeom>
            <a:avLst/>
            <a:gdLst/>
            <a:ahLst/>
            <a:cxnLst/>
            <a:rect l="0" t="0" r="7952422" b="280035"/>
            <a:pathLst>
              <a:path w="7952422" h="280035">
                <a:moveTo>
                  <a:pt x="101600" y="0"/>
                </a:moveTo>
                <a:lnTo>
                  <a:pt x="7850822" y="0"/>
                </a:lnTo>
                <a:arcTo wR="101600" hR="101600" stAng="-5400000" swAng="5400000"/>
                <a:lnTo>
                  <a:pt x="7952422" y="178435"/>
                </a:lnTo>
                <a:arcTo wR="101600" hR="101600" stAng="0" swAng="5400000"/>
                <a:lnTo>
                  <a:pt x="101600" y="280035"/>
                </a:lnTo>
                <a:arcTo wR="101600" hR="101600" stAng="5400000" swAng="5400000"/>
                <a:lnTo>
                  <a:pt x="0" y="101600"/>
                </a:lnTo>
                <a:arcTo wR="101600" hR="101600" stAng="10800000" swAng="5400000"/>
                <a:close/>
              </a:path>
            </a:pathLst>
          </a:cu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indent="-180000">
              <a:lnSpc>
                <a:spcPct val="115000"/>
              </a:lnSpc>
            </a:pPr>
            <a:r>
              <a:rPr sz="1100" b="1">
                <a:latin typeface="Verdana"/>
                <a:ea typeface="Verdana"/>
              </a:rPr>
              <a:t>Goal</a:t>
            </a:r>
            <a:r>
              <a:rPr sz="1100">
                <a:latin typeface="Verdana"/>
                <a:ea typeface="Verdana"/>
              </a:rPr>
              <a:t> move the scorecard from reported activity coverage to verified formal control of collection, processing, workers, and hotspot safety.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76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nd Title 2"/>
          <p:cNvSpPr txBox="1"/>
          <p:nvPr/>
        </p:nvSpPr>
        <p:spPr>
          <a:xfrm>
            <a:off x="914400" y="0"/>
            <a:ext cx="7315200" cy="5120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4200" b="1">
                <a:solidFill>
                  <a:srgbClr val="FFFFFF"/>
                </a:solidFill>
                <a:latin typeface="Verdana"/>
                <a:ea typeface="Verdana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9E45BCADE012848BADD84F0F5519C36" ma:contentTypeVersion="13" ma:contentTypeDescription="Create a new document." ma:contentTypeScope="" ma:versionID="749d6923f222eb45ac0dc6063575a178">
  <xsd:schema xmlns:xsd="http://www.w3.org/2001/XMLSchema" xmlns:xs="http://www.w3.org/2001/XMLSchema" xmlns:p="http://schemas.microsoft.com/office/2006/metadata/properties" xmlns:ns2="c49d017b-ac22-4c0b-a7a4-c8b9eca6cd70" xmlns:ns3="e0d206d7-ee7c-42da-b133-6e7342787b39" targetNamespace="http://schemas.microsoft.com/office/2006/metadata/properties" ma:root="true" ma:fieldsID="e99e7a50f06ef0e0bf1d9a36c1212498" ns2:_="" ns3:_="">
    <xsd:import namespace="c49d017b-ac22-4c0b-a7a4-c8b9eca6cd70"/>
    <xsd:import namespace="e0d206d7-ee7c-42da-b133-6e7342787b39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ServiceOCR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49d017b-ac22-4c0b-a7a4-c8b9eca6cd70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65c09e8c-4242-4efc-8aa0-958213fa9c5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0d206d7-ee7c-42da-b133-6e7342787b39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35d6c0a8-0dd6-40f9-b8c8-aca075772b73}" ma:internalName="TaxCatchAll" ma:showField="CatchAllData" ma:web="e0d206d7-ee7c-42da-b133-6e7342787b3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49d017b-ac22-4c0b-a7a4-c8b9eca6cd70">
      <Terms xmlns="http://schemas.microsoft.com/office/infopath/2007/PartnerControls"/>
    </lcf76f155ced4ddcb4097134ff3c332f>
    <TaxCatchAll xmlns="e0d206d7-ee7c-42da-b133-6e7342787b39" xsi:nil="true"/>
    <ReferenceId xmlns="c49d017b-ac22-4c0b-a7a4-c8b9eca6cd70" xsi:nil="true"/>
  </documentManagement>
</p:properties>
</file>

<file path=customXml/itemProps1.xml><?xml version="1.0" encoding="utf-8"?>
<ds:datastoreItem xmlns:ds="http://schemas.openxmlformats.org/officeDocument/2006/customXml" ds:itemID="{469403C5-3DCF-450F-8552-8C7267BA1B91}"/>
</file>

<file path=customXml/itemProps2.xml><?xml version="1.0" encoding="utf-8"?>
<ds:datastoreItem xmlns:ds="http://schemas.openxmlformats.org/officeDocument/2006/customXml" ds:itemID="{CC394531-E7FD-421B-A4BA-A59AE56E5D4B}"/>
</file>

<file path=customXml/itemProps3.xml><?xml version="1.0" encoding="utf-8"?>
<ds:datastoreItem xmlns:ds="http://schemas.openxmlformats.org/officeDocument/2006/customXml" ds:itemID="{C20D5DB1-238A-4853-9139-57FE03A941B8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主题​​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AlgForceAi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subject/>
  <dc:creator>AlgForceAi</dc:creator>
  <cp:lastModifiedBy>Shreyank Parab</cp:lastModifiedBy>
  <cp:revision>2</cp:revision>
  <dcterms:created xsi:type="dcterms:W3CDTF">2026-07-22T10:35:40Z</dcterms:created>
  <dcterms:modified xsi:type="dcterms:W3CDTF">2026-07-23T05:41:59Z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0x01010029E45BCADE012848BADD84F0F5519C36</vt:lpwstr>
  </property>
</Properties>
</file>